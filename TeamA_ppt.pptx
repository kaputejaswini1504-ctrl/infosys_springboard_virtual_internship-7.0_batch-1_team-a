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fafe3ffc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fafe3ffc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fafe3ffc3d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fafe3ffc3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fafe3ffc3d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fafe3ffc3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7" name="Google Shape;21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
        <p:cNvGrpSpPr/>
        <p:nvPr/>
      </p:nvGrpSpPr>
      <p:grpSpPr>
        <a:xfrm>
          <a:off x="0" y="0"/>
          <a:ext cx="0" cy="0"/>
          <a:chOff x="0" y="0"/>
          <a:chExt cx="0" cy="0"/>
        </a:xfrm>
      </p:grpSpPr>
      <p:pic>
        <p:nvPicPr>
          <p:cNvPr id="13" name="Google Shape;13;p2"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 name="Google Shape;14;p2"/>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pic>
        <p:nvPicPr>
          <p:cNvPr id="18" name="Google Shape;18;p3" descr="Droplets-HD-Title-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9" name="Google Shape;19;p3"/>
          <p:cNvSpPr txBox="1">
            <a:spLocks noGrp="1"/>
          </p:cNvSpPr>
          <p:nvPr>
            <p:ph type="ctrTitle"/>
          </p:nvPr>
        </p:nvSpPr>
        <p:spPr>
          <a:xfrm>
            <a:off x="1751012" y="1300785"/>
            <a:ext cx="8689976" cy="250921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Twentieth Centur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ubTitle" idx="1"/>
          </p:nvPr>
        </p:nvSpPr>
        <p:spPr>
          <a:xfrm>
            <a:off x="1751012" y="3886200"/>
            <a:ext cx="8689976" cy="1371599"/>
          </a:xfrm>
          <a:prstGeom prst="rect">
            <a:avLst/>
          </a:prstGeom>
          <a:noFill/>
          <a:ln>
            <a:noFill/>
          </a:ln>
        </p:spPr>
        <p:txBody>
          <a:bodyPr spcFirstLastPara="1" wrap="square" lIns="91425" tIns="45700" rIns="91425" bIns="45700" anchor="t" anchorCtr="0">
            <a:normAutofit/>
          </a:bodyPr>
          <a:lstStyle>
            <a:lvl1pPr lvl="0" algn="ctr">
              <a:lnSpc>
                <a:spcPct val="120000"/>
              </a:lnSpc>
              <a:spcBef>
                <a:spcPts val="1000"/>
              </a:spcBef>
              <a:spcAft>
                <a:spcPts val="0"/>
              </a:spcAft>
              <a:buSzPts val="2200"/>
              <a:buNone/>
              <a:defRPr sz="2200">
                <a:solidFill>
                  <a:srgbClr val="7F7F7F"/>
                </a:solidFill>
              </a:defRPr>
            </a:lvl1pPr>
            <a:lvl2pPr lvl="1" algn="ctr">
              <a:lnSpc>
                <a:spcPct val="120000"/>
              </a:lnSpc>
              <a:spcBef>
                <a:spcPts val="500"/>
              </a:spcBef>
              <a:spcAft>
                <a:spcPts val="0"/>
              </a:spcAft>
              <a:buSzPts val="2000"/>
              <a:buNone/>
              <a:defRPr sz="20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a:endParaRPr/>
          </a:p>
        </p:txBody>
      </p:sp>
      <p:sp>
        <p:nvSpPr>
          <p:cNvPr id="21" name="Google Shape;21;p3"/>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4"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6" name="Google Shape;26;p4"/>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13774" y="2367092"/>
            <a:ext cx="10363826" cy="342410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28" name="Google Shape;28;p4"/>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pic>
        <p:nvPicPr>
          <p:cNvPr id="32" name="Google Shape;32;p5"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3" name="Google Shape;33;p5"/>
          <p:cNvSpPr txBox="1">
            <a:spLocks noGrp="1"/>
          </p:cNvSpPr>
          <p:nvPr>
            <p:ph type="title"/>
          </p:nvPr>
        </p:nvSpPr>
        <p:spPr>
          <a:xfrm>
            <a:off x="913774" y="828563"/>
            <a:ext cx="10351752" cy="273681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000"/>
              <a:buFont typeface="Twentieth Century"/>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913774" y="3657457"/>
            <a:ext cx="10351752" cy="136818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2000"/>
              <a:buNone/>
              <a:defRPr sz="2000">
                <a:solidFill>
                  <a:srgbClr val="7F7F7F"/>
                </a:solidFill>
              </a:defRPr>
            </a:lvl1pPr>
            <a:lvl2pPr marL="914400" lvl="1" indent="-228600" algn="l">
              <a:lnSpc>
                <a:spcPct val="120000"/>
              </a:lnSpc>
              <a:spcBef>
                <a:spcPts val="500"/>
              </a:spcBef>
              <a:spcAft>
                <a:spcPts val="0"/>
              </a:spcAft>
              <a:buSzPts val="2000"/>
              <a:buNone/>
              <a:defRPr sz="2000">
                <a:solidFill>
                  <a:srgbClr val="888888"/>
                </a:solidFill>
              </a:defRPr>
            </a:lvl2pPr>
            <a:lvl3pPr marL="1371600" lvl="2" indent="-228600" algn="l">
              <a:lnSpc>
                <a:spcPct val="120000"/>
              </a:lnSpc>
              <a:spcBef>
                <a:spcPts val="500"/>
              </a:spcBef>
              <a:spcAft>
                <a:spcPts val="0"/>
              </a:spcAft>
              <a:buSzPts val="1800"/>
              <a:buNone/>
              <a:defRPr sz="1800">
                <a:solidFill>
                  <a:srgbClr val="888888"/>
                </a:solidFill>
              </a:defRPr>
            </a:lvl3pPr>
            <a:lvl4pPr marL="1828800" lvl="3" indent="-228600" algn="l">
              <a:lnSpc>
                <a:spcPct val="120000"/>
              </a:lnSpc>
              <a:spcBef>
                <a:spcPts val="500"/>
              </a:spcBef>
              <a:spcAft>
                <a:spcPts val="0"/>
              </a:spcAft>
              <a:buSzPts val="1600"/>
              <a:buNone/>
              <a:defRPr sz="1600">
                <a:solidFill>
                  <a:srgbClr val="888888"/>
                </a:solidFill>
              </a:defRPr>
            </a:lvl4pPr>
            <a:lvl5pPr marL="2286000" lvl="4" indent="-228600" algn="l">
              <a:lnSpc>
                <a:spcPct val="120000"/>
              </a:lnSpc>
              <a:spcBef>
                <a:spcPts val="500"/>
              </a:spcBef>
              <a:spcAft>
                <a:spcPts val="0"/>
              </a:spcAft>
              <a:buSzPts val="1600"/>
              <a:buNone/>
              <a:defRPr sz="1600">
                <a:solidFill>
                  <a:srgbClr val="888888"/>
                </a:solidFill>
              </a:defRPr>
            </a:lvl5pPr>
            <a:lvl6pPr marL="2743200" lvl="5" indent="-228600" algn="l">
              <a:lnSpc>
                <a:spcPct val="120000"/>
              </a:lnSpc>
              <a:spcBef>
                <a:spcPts val="500"/>
              </a:spcBef>
              <a:spcAft>
                <a:spcPts val="0"/>
              </a:spcAft>
              <a:buSzPts val="1600"/>
              <a:buNone/>
              <a:defRPr sz="1600">
                <a:solidFill>
                  <a:srgbClr val="888888"/>
                </a:solidFill>
              </a:defRPr>
            </a:lvl6pPr>
            <a:lvl7pPr marL="3200400" lvl="6" indent="-228600" algn="l">
              <a:lnSpc>
                <a:spcPct val="120000"/>
              </a:lnSpc>
              <a:spcBef>
                <a:spcPts val="500"/>
              </a:spcBef>
              <a:spcAft>
                <a:spcPts val="0"/>
              </a:spcAft>
              <a:buSzPts val="1600"/>
              <a:buNone/>
              <a:defRPr sz="1600">
                <a:solidFill>
                  <a:srgbClr val="888888"/>
                </a:solidFill>
              </a:defRPr>
            </a:lvl7pPr>
            <a:lvl8pPr marL="3657600" lvl="7" indent="-228600" algn="l">
              <a:lnSpc>
                <a:spcPct val="120000"/>
              </a:lnSpc>
              <a:spcBef>
                <a:spcPts val="500"/>
              </a:spcBef>
              <a:spcAft>
                <a:spcPts val="0"/>
              </a:spcAft>
              <a:buSzPts val="1600"/>
              <a:buNone/>
              <a:defRPr sz="1600">
                <a:solidFill>
                  <a:srgbClr val="888888"/>
                </a:solidFill>
              </a:defRPr>
            </a:lvl8pPr>
            <a:lvl9pPr marL="4114800" lvl="8" indent="-228600" algn="l">
              <a:lnSpc>
                <a:spcPct val="120000"/>
              </a:lnSpc>
              <a:spcBef>
                <a:spcPts val="500"/>
              </a:spcBef>
              <a:spcAft>
                <a:spcPts val="0"/>
              </a:spcAft>
              <a:buSzPts val="1600"/>
              <a:buNone/>
              <a:defRPr sz="1600">
                <a:solidFill>
                  <a:srgbClr val="888888"/>
                </a:solidFill>
              </a:defRPr>
            </a:lvl9pPr>
          </a:lstStyle>
          <a:p>
            <a:endParaRPr/>
          </a:p>
        </p:txBody>
      </p:sp>
      <p:sp>
        <p:nvSpPr>
          <p:cNvPr id="35" name="Google Shape;35;p5"/>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pic>
        <p:nvPicPr>
          <p:cNvPr id="39" name="Google Shape;39;p6"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0" name="Google Shape;40;p6"/>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913774" y="2367092"/>
            <a:ext cx="5106026" cy="342410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2" name="Google Shape;42;p6"/>
          <p:cNvSpPr txBox="1">
            <a:spLocks noGrp="1"/>
          </p:cNvSpPr>
          <p:nvPr>
            <p:ph type="body" idx="2"/>
          </p:nvPr>
        </p:nvSpPr>
        <p:spPr>
          <a:xfrm>
            <a:off x="6172200" y="2367092"/>
            <a:ext cx="5105400" cy="342410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3" name="Google Shape;43;p6"/>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pic>
        <p:nvPicPr>
          <p:cNvPr id="47" name="Google Shape;47;p7"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8" name="Google Shape;48;p7"/>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1146328" y="2371018"/>
            <a:ext cx="4873474" cy="679994"/>
          </a:xfrm>
          <a:prstGeom prst="rect">
            <a:avLst/>
          </a:prstGeom>
          <a:noFill/>
          <a:ln>
            <a:noFill/>
          </a:ln>
        </p:spPr>
        <p:txBody>
          <a:bodyPr spcFirstLastPara="1" wrap="square" lIns="91425" tIns="45700" rIns="91425" bIns="45700" anchor="b" anchorCtr="0">
            <a:noAutofit/>
          </a:bodyPr>
          <a:lstStyle>
            <a:lvl1pPr marL="457200" lvl="0" indent="-228600" algn="l">
              <a:lnSpc>
                <a:spcPct val="85000"/>
              </a:lnSpc>
              <a:spcBef>
                <a:spcPts val="1000"/>
              </a:spcBef>
              <a:spcAft>
                <a:spcPts val="0"/>
              </a:spcAft>
              <a:buSzPts val="2600"/>
              <a:buNone/>
              <a:defRPr sz="26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50" name="Google Shape;50;p7"/>
          <p:cNvSpPr txBox="1">
            <a:spLocks noGrp="1"/>
          </p:cNvSpPr>
          <p:nvPr>
            <p:ph type="body" idx="2"/>
          </p:nvPr>
        </p:nvSpPr>
        <p:spPr>
          <a:xfrm>
            <a:off x="913774" y="3051012"/>
            <a:ext cx="5106027" cy="274018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51" name="Google Shape;51;p7"/>
          <p:cNvSpPr txBox="1">
            <a:spLocks noGrp="1"/>
          </p:cNvSpPr>
          <p:nvPr>
            <p:ph type="body" idx="3"/>
          </p:nvPr>
        </p:nvSpPr>
        <p:spPr>
          <a:xfrm>
            <a:off x="6396423" y="2371018"/>
            <a:ext cx="4881804" cy="679994"/>
          </a:xfrm>
          <a:prstGeom prst="rect">
            <a:avLst/>
          </a:prstGeom>
          <a:noFill/>
          <a:ln>
            <a:noFill/>
          </a:ln>
        </p:spPr>
        <p:txBody>
          <a:bodyPr spcFirstLastPara="1" wrap="square" lIns="91425" tIns="45700" rIns="91425" bIns="45700" anchor="b" anchorCtr="0">
            <a:noAutofit/>
          </a:bodyPr>
          <a:lstStyle>
            <a:lvl1pPr marL="457200" lvl="0" indent="-228600" algn="l">
              <a:lnSpc>
                <a:spcPct val="85000"/>
              </a:lnSpc>
              <a:spcBef>
                <a:spcPts val="1000"/>
              </a:spcBef>
              <a:spcAft>
                <a:spcPts val="0"/>
              </a:spcAft>
              <a:buSzPts val="2600"/>
              <a:buNone/>
              <a:defRPr sz="26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52" name="Google Shape;52;p7"/>
          <p:cNvSpPr txBox="1">
            <a:spLocks noGrp="1"/>
          </p:cNvSpPr>
          <p:nvPr>
            <p:ph type="body" idx="4"/>
          </p:nvPr>
        </p:nvSpPr>
        <p:spPr>
          <a:xfrm>
            <a:off x="6172200" y="3051012"/>
            <a:ext cx="5105401" cy="274018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53" name="Google Shape;53;p7"/>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pic>
        <p:nvPicPr>
          <p:cNvPr id="57" name="Google Shape;57;p8"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8" name="Google Shape;58;p8"/>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8"/>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pic>
        <p:nvPicPr>
          <p:cNvPr id="63" name="Google Shape;63;p9"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4" name="Google Shape;64;p9"/>
          <p:cNvSpPr txBox="1">
            <a:spLocks noGrp="1"/>
          </p:cNvSpPr>
          <p:nvPr>
            <p:ph type="title"/>
          </p:nvPr>
        </p:nvSpPr>
        <p:spPr>
          <a:xfrm>
            <a:off x="913775" y="609600"/>
            <a:ext cx="3935688" cy="202325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txBox="1">
            <a:spLocks noGrp="1"/>
          </p:cNvSpPr>
          <p:nvPr>
            <p:ph type="body" idx="1"/>
          </p:nvPr>
        </p:nvSpPr>
        <p:spPr>
          <a:xfrm>
            <a:off x="5078062" y="609600"/>
            <a:ext cx="6200163" cy="5181599"/>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66" name="Google Shape;66;p9"/>
          <p:cNvSpPr txBox="1">
            <a:spLocks noGrp="1"/>
          </p:cNvSpPr>
          <p:nvPr>
            <p:ph type="body" idx="2"/>
          </p:nvPr>
        </p:nvSpPr>
        <p:spPr>
          <a:xfrm>
            <a:off x="913774" y="2632852"/>
            <a:ext cx="3935689" cy="315834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67" name="Google Shape;67;p9"/>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9"/>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pic>
        <p:nvPicPr>
          <p:cNvPr id="71" name="Google Shape;71;p10"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2" name="Google Shape;72;p10"/>
          <p:cNvSpPr txBox="1">
            <a:spLocks noGrp="1"/>
          </p:cNvSpPr>
          <p:nvPr>
            <p:ph type="title"/>
          </p:nvPr>
        </p:nvSpPr>
        <p:spPr>
          <a:xfrm>
            <a:off x="913774" y="609600"/>
            <a:ext cx="5934969" cy="202325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7424803" y="609601"/>
            <a:ext cx="3255358" cy="5181600"/>
          </a:xfrm>
          <a:prstGeom prst="roundRect">
            <a:avLst>
              <a:gd name="adj" fmla="val 4943"/>
            </a:avLst>
          </a:prstGeom>
          <a:noFill/>
          <a:ln w="82550" cap="sq" cmpd="sng">
            <a:solidFill>
              <a:srgbClr val="EAEAEA"/>
            </a:solidFill>
            <a:prstDash val="solid"/>
            <a:miter lim="0"/>
            <a:headEnd type="none" w="sm" len="sm"/>
            <a:tailEnd type="none" w="sm" len="sm"/>
          </a:ln>
        </p:spPr>
      </p:sp>
      <p:sp>
        <p:nvSpPr>
          <p:cNvPr id="74" name="Google Shape;74;p10"/>
          <p:cNvSpPr txBox="1">
            <a:spLocks noGrp="1"/>
          </p:cNvSpPr>
          <p:nvPr>
            <p:ph type="body" idx="1"/>
          </p:nvPr>
        </p:nvSpPr>
        <p:spPr>
          <a:xfrm>
            <a:off x="913794" y="2632852"/>
            <a:ext cx="5934949" cy="3158347"/>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75" name="Google Shape;75;p10"/>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8"/>
        <p:cNvGrpSpPr/>
        <p:nvPr/>
      </p:nvGrpSpPr>
      <p:grpSpPr>
        <a:xfrm>
          <a:off x="0" y="0"/>
          <a:ext cx="0" cy="0"/>
          <a:chOff x="0" y="0"/>
          <a:chExt cx="0" cy="0"/>
        </a:xfrm>
      </p:grpSpPr>
      <p:pic>
        <p:nvPicPr>
          <p:cNvPr id="79" name="Google Shape;79;p11"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0" name="Google Shape;80;p11"/>
          <p:cNvSpPr txBox="1">
            <a:spLocks noGrp="1"/>
          </p:cNvSpPr>
          <p:nvPr>
            <p:ph type="title"/>
          </p:nvPr>
        </p:nvSpPr>
        <p:spPr>
          <a:xfrm>
            <a:off x="913794" y="4289374"/>
            <a:ext cx="10364432" cy="81161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a:spLocks noGrp="1"/>
          </p:cNvSpPr>
          <p:nvPr>
            <p:ph type="pic" idx="2"/>
          </p:nvPr>
        </p:nvSpPr>
        <p:spPr>
          <a:xfrm>
            <a:off x="1184744" y="698261"/>
            <a:ext cx="9822532" cy="3214136"/>
          </a:xfrm>
          <a:prstGeom prst="roundRect">
            <a:avLst>
              <a:gd name="adj" fmla="val 4944"/>
            </a:avLst>
          </a:prstGeom>
          <a:noFill/>
          <a:ln w="82550" cap="sq" cmpd="sng">
            <a:solidFill>
              <a:srgbClr val="EAEAEA"/>
            </a:solidFill>
            <a:prstDash val="solid"/>
            <a:miter lim="0"/>
            <a:headEnd type="none" w="sm" len="sm"/>
            <a:tailEnd type="none" w="sm" len="sm"/>
          </a:ln>
        </p:spPr>
      </p:sp>
      <p:sp>
        <p:nvSpPr>
          <p:cNvPr id="82" name="Google Shape;82;p11"/>
          <p:cNvSpPr txBox="1">
            <a:spLocks noGrp="1"/>
          </p:cNvSpPr>
          <p:nvPr>
            <p:ph type="body" idx="1"/>
          </p:nvPr>
        </p:nvSpPr>
        <p:spPr>
          <a:xfrm>
            <a:off x="913774" y="5108728"/>
            <a:ext cx="10364452" cy="682472"/>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83" name="Google Shape;83;p11"/>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1"/>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6"/>
        <p:cNvGrpSpPr/>
        <p:nvPr/>
      </p:nvGrpSpPr>
      <p:grpSpPr>
        <a:xfrm>
          <a:off x="0" y="0"/>
          <a:ext cx="0" cy="0"/>
          <a:chOff x="0" y="0"/>
          <a:chExt cx="0" cy="0"/>
        </a:xfrm>
      </p:grpSpPr>
      <p:pic>
        <p:nvPicPr>
          <p:cNvPr id="87" name="Google Shape;87;p12"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8" name="Google Shape;88;p12"/>
          <p:cNvSpPr txBox="1">
            <a:spLocks noGrp="1"/>
          </p:cNvSpPr>
          <p:nvPr>
            <p:ph type="title"/>
          </p:nvPr>
        </p:nvSpPr>
        <p:spPr>
          <a:xfrm>
            <a:off x="913774" y="609599"/>
            <a:ext cx="10364452" cy="3427245"/>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2"/>
          <p:cNvSpPr txBox="1">
            <a:spLocks noGrp="1"/>
          </p:cNvSpPr>
          <p:nvPr>
            <p:ph type="body" idx="1"/>
          </p:nvPr>
        </p:nvSpPr>
        <p:spPr>
          <a:xfrm>
            <a:off x="913775" y="4204821"/>
            <a:ext cx="10364452" cy="1586380"/>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90" name="Google Shape;90;p12"/>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2"/>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3"/>
        <p:cNvGrpSpPr/>
        <p:nvPr/>
      </p:nvGrpSpPr>
      <p:grpSpPr>
        <a:xfrm>
          <a:off x="0" y="0"/>
          <a:ext cx="0" cy="0"/>
          <a:chOff x="0" y="0"/>
          <a:chExt cx="0" cy="0"/>
        </a:xfrm>
      </p:grpSpPr>
      <p:pic>
        <p:nvPicPr>
          <p:cNvPr id="94" name="Google Shape;94;p13"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95" name="Google Shape;95;p13"/>
          <p:cNvSpPr txBox="1">
            <a:spLocks noGrp="1"/>
          </p:cNvSpPr>
          <p:nvPr>
            <p:ph type="title"/>
          </p:nvPr>
        </p:nvSpPr>
        <p:spPr>
          <a:xfrm>
            <a:off x="1446212" y="609600"/>
            <a:ext cx="9302752" cy="299290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3"/>
          <p:cNvSpPr txBox="1">
            <a:spLocks noGrp="1"/>
          </p:cNvSpPr>
          <p:nvPr>
            <p:ph type="body" idx="1"/>
          </p:nvPr>
        </p:nvSpPr>
        <p:spPr>
          <a:xfrm>
            <a:off x="1720644" y="3610032"/>
            <a:ext cx="8752299" cy="59478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97" name="Google Shape;97;p13"/>
          <p:cNvSpPr txBox="1">
            <a:spLocks noGrp="1"/>
          </p:cNvSpPr>
          <p:nvPr>
            <p:ph type="body" idx="2"/>
          </p:nvPr>
        </p:nvSpPr>
        <p:spPr>
          <a:xfrm>
            <a:off x="913774" y="4372796"/>
            <a:ext cx="10364452" cy="1421053"/>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98" name="Google Shape;98;p13"/>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3"/>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3"/>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
        <p:nvSpPr>
          <p:cNvPr id="101" name="Google Shape;101;p13"/>
          <p:cNvSpPr txBox="1"/>
          <p:nvPr/>
        </p:nvSpPr>
        <p:spPr>
          <a:xfrm>
            <a:off x="1001488" y="754166"/>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8000"/>
              <a:buFont typeface="Twentieth Century"/>
              <a:buNone/>
            </a:pPr>
            <a:r>
              <a:rPr lang="en-IN" sz="8000" b="0" i="0" u="none" strike="noStrike" cap="none">
                <a:solidFill>
                  <a:schemeClr val="dk1"/>
                </a:solidFill>
                <a:latin typeface="Twentieth Century"/>
                <a:ea typeface="Twentieth Century"/>
                <a:cs typeface="Twentieth Century"/>
                <a:sym typeface="Twentieth Century"/>
              </a:rPr>
              <a:t>“</a:t>
            </a:r>
            <a:endParaRPr sz="1400" b="0" i="0" u="none" strike="noStrike" cap="none">
              <a:solidFill>
                <a:srgbClr val="000000"/>
              </a:solidFill>
              <a:latin typeface="Arial"/>
              <a:ea typeface="Arial"/>
              <a:cs typeface="Arial"/>
              <a:sym typeface="Arial"/>
            </a:endParaRPr>
          </a:p>
        </p:txBody>
      </p:sp>
      <p:sp>
        <p:nvSpPr>
          <p:cNvPr id="102" name="Google Shape;102;p13"/>
          <p:cNvSpPr txBox="1"/>
          <p:nvPr/>
        </p:nvSpPr>
        <p:spPr>
          <a:xfrm>
            <a:off x="10557558" y="2993578"/>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8000"/>
              <a:buFont typeface="Twentieth Century"/>
              <a:buNone/>
            </a:pPr>
            <a:r>
              <a:rPr lang="en-IN" sz="8000" b="0" i="0" u="none" strike="noStrike" cap="none">
                <a:solidFill>
                  <a:schemeClr val="dk1"/>
                </a:solidFill>
                <a:latin typeface="Twentieth Century"/>
                <a:ea typeface="Twentieth Century"/>
                <a:cs typeface="Twentieth Century"/>
                <a:sym typeface="Twentieth Century"/>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3"/>
        <p:cNvGrpSpPr/>
        <p:nvPr/>
      </p:nvGrpSpPr>
      <p:grpSpPr>
        <a:xfrm>
          <a:off x="0" y="0"/>
          <a:ext cx="0" cy="0"/>
          <a:chOff x="0" y="0"/>
          <a:chExt cx="0" cy="0"/>
        </a:xfrm>
      </p:grpSpPr>
      <p:pic>
        <p:nvPicPr>
          <p:cNvPr id="104" name="Google Shape;104;p14"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05" name="Google Shape;105;p14"/>
          <p:cNvSpPr txBox="1">
            <a:spLocks noGrp="1"/>
          </p:cNvSpPr>
          <p:nvPr>
            <p:ph type="title"/>
          </p:nvPr>
        </p:nvSpPr>
        <p:spPr>
          <a:xfrm>
            <a:off x="913775" y="2138721"/>
            <a:ext cx="10364452" cy="251183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4"/>
          <p:cNvSpPr txBox="1">
            <a:spLocks noGrp="1"/>
          </p:cNvSpPr>
          <p:nvPr>
            <p:ph type="body" idx="1"/>
          </p:nvPr>
        </p:nvSpPr>
        <p:spPr>
          <a:xfrm>
            <a:off x="913775" y="4662335"/>
            <a:ext cx="10364452" cy="1140644"/>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107" name="Google Shape;107;p14"/>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4"/>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4"/>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10"/>
        <p:cNvGrpSpPr/>
        <p:nvPr/>
      </p:nvGrpSpPr>
      <p:grpSpPr>
        <a:xfrm>
          <a:off x="0" y="0"/>
          <a:ext cx="0" cy="0"/>
          <a:chOff x="0" y="0"/>
          <a:chExt cx="0" cy="0"/>
        </a:xfrm>
      </p:grpSpPr>
      <p:pic>
        <p:nvPicPr>
          <p:cNvPr id="111" name="Google Shape;111;p15"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12" name="Google Shape;112;p15"/>
          <p:cNvSpPr txBox="1">
            <a:spLocks noGrp="1"/>
          </p:cNvSpPr>
          <p:nvPr>
            <p:ph type="title"/>
          </p:nvPr>
        </p:nvSpPr>
        <p:spPr>
          <a:xfrm>
            <a:off x="913774" y="609600"/>
            <a:ext cx="10364452" cy="160509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15"/>
          <p:cNvSpPr txBox="1">
            <a:spLocks noGrp="1"/>
          </p:cNvSpPr>
          <p:nvPr>
            <p:ph type="body" idx="1"/>
          </p:nvPr>
        </p:nvSpPr>
        <p:spPr>
          <a:xfrm>
            <a:off x="913774" y="2367093"/>
            <a:ext cx="3298976"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400"/>
              <a:buNone/>
              <a:defRPr sz="24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14" name="Google Shape;114;p15"/>
          <p:cNvSpPr txBox="1">
            <a:spLocks noGrp="1"/>
          </p:cNvSpPr>
          <p:nvPr>
            <p:ph type="body" idx="2"/>
          </p:nvPr>
        </p:nvSpPr>
        <p:spPr>
          <a:xfrm>
            <a:off x="913774" y="2943355"/>
            <a:ext cx="3298976" cy="2847845"/>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15" name="Google Shape;115;p15"/>
          <p:cNvSpPr txBox="1">
            <a:spLocks noGrp="1"/>
          </p:cNvSpPr>
          <p:nvPr>
            <p:ph type="body" idx="3"/>
          </p:nvPr>
        </p:nvSpPr>
        <p:spPr>
          <a:xfrm>
            <a:off x="4452389" y="2367093"/>
            <a:ext cx="3291521"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400"/>
              <a:buNone/>
              <a:defRPr sz="24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16" name="Google Shape;116;p15"/>
          <p:cNvSpPr txBox="1">
            <a:spLocks noGrp="1"/>
          </p:cNvSpPr>
          <p:nvPr>
            <p:ph type="body" idx="4"/>
          </p:nvPr>
        </p:nvSpPr>
        <p:spPr>
          <a:xfrm>
            <a:off x="4441348" y="2943355"/>
            <a:ext cx="3303351" cy="2847845"/>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17" name="Google Shape;117;p15"/>
          <p:cNvSpPr txBox="1">
            <a:spLocks noGrp="1"/>
          </p:cNvSpPr>
          <p:nvPr>
            <p:ph type="body" idx="5"/>
          </p:nvPr>
        </p:nvSpPr>
        <p:spPr>
          <a:xfrm>
            <a:off x="7973298" y="2367093"/>
            <a:ext cx="3304928"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400"/>
              <a:buNone/>
              <a:defRPr sz="24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18" name="Google Shape;118;p15"/>
          <p:cNvSpPr txBox="1">
            <a:spLocks noGrp="1"/>
          </p:cNvSpPr>
          <p:nvPr>
            <p:ph type="body" idx="6"/>
          </p:nvPr>
        </p:nvSpPr>
        <p:spPr>
          <a:xfrm>
            <a:off x="7973298" y="2943355"/>
            <a:ext cx="3304928" cy="2847845"/>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19" name="Google Shape;119;p15"/>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15"/>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15"/>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22"/>
        <p:cNvGrpSpPr/>
        <p:nvPr/>
      </p:nvGrpSpPr>
      <p:grpSpPr>
        <a:xfrm>
          <a:off x="0" y="0"/>
          <a:ext cx="0" cy="0"/>
          <a:chOff x="0" y="0"/>
          <a:chExt cx="0" cy="0"/>
        </a:xfrm>
      </p:grpSpPr>
      <p:pic>
        <p:nvPicPr>
          <p:cNvPr id="123" name="Google Shape;123;p16"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4" name="Google Shape;124;p16"/>
          <p:cNvSpPr txBox="1">
            <a:spLocks noGrp="1"/>
          </p:cNvSpPr>
          <p:nvPr>
            <p:ph type="title"/>
          </p:nvPr>
        </p:nvSpPr>
        <p:spPr>
          <a:xfrm>
            <a:off x="913774" y="610772"/>
            <a:ext cx="10364452" cy="160392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16"/>
          <p:cNvSpPr txBox="1">
            <a:spLocks noGrp="1"/>
          </p:cNvSpPr>
          <p:nvPr>
            <p:ph type="body" idx="1"/>
          </p:nvPr>
        </p:nvSpPr>
        <p:spPr>
          <a:xfrm>
            <a:off x="913774" y="4204820"/>
            <a:ext cx="3296409"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200"/>
              <a:buNone/>
              <a:defRPr sz="22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26" name="Google Shape;126;p16"/>
          <p:cNvSpPr>
            <a:spLocks noGrp="1"/>
          </p:cNvSpPr>
          <p:nvPr>
            <p:ph type="pic" idx="2"/>
          </p:nvPr>
        </p:nvSpPr>
        <p:spPr>
          <a:xfrm>
            <a:off x="913774" y="2367093"/>
            <a:ext cx="3296409" cy="1524000"/>
          </a:xfrm>
          <a:prstGeom prst="roundRect">
            <a:avLst>
              <a:gd name="adj" fmla="val 9363"/>
            </a:avLst>
          </a:prstGeom>
          <a:noFill/>
          <a:ln w="82550" cap="sq" cmpd="sng">
            <a:solidFill>
              <a:srgbClr val="EAEAEA"/>
            </a:solidFill>
            <a:prstDash val="solid"/>
            <a:miter lim="0"/>
            <a:headEnd type="none" w="sm" len="sm"/>
            <a:tailEnd type="none" w="sm" len="sm"/>
          </a:ln>
        </p:spPr>
      </p:sp>
      <p:sp>
        <p:nvSpPr>
          <p:cNvPr id="127" name="Google Shape;127;p16"/>
          <p:cNvSpPr txBox="1">
            <a:spLocks noGrp="1"/>
          </p:cNvSpPr>
          <p:nvPr>
            <p:ph type="body" idx="3"/>
          </p:nvPr>
        </p:nvSpPr>
        <p:spPr>
          <a:xfrm>
            <a:off x="913774" y="4781082"/>
            <a:ext cx="3296409" cy="101011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28" name="Google Shape;128;p16"/>
          <p:cNvSpPr txBox="1">
            <a:spLocks noGrp="1"/>
          </p:cNvSpPr>
          <p:nvPr>
            <p:ph type="body" idx="4"/>
          </p:nvPr>
        </p:nvSpPr>
        <p:spPr>
          <a:xfrm>
            <a:off x="4442759" y="4204820"/>
            <a:ext cx="3301828"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200"/>
              <a:buNone/>
              <a:defRPr sz="22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29" name="Google Shape;129;p16"/>
          <p:cNvSpPr>
            <a:spLocks noGrp="1"/>
          </p:cNvSpPr>
          <p:nvPr>
            <p:ph type="pic" idx="5"/>
          </p:nvPr>
        </p:nvSpPr>
        <p:spPr>
          <a:xfrm>
            <a:off x="4441348" y="2367093"/>
            <a:ext cx="3303352" cy="1524000"/>
          </a:xfrm>
          <a:prstGeom prst="roundRect">
            <a:avLst>
              <a:gd name="adj" fmla="val 8841"/>
            </a:avLst>
          </a:prstGeom>
          <a:noFill/>
          <a:ln w="82550" cap="sq" cmpd="sng">
            <a:solidFill>
              <a:srgbClr val="EAEAEA"/>
            </a:solidFill>
            <a:prstDash val="solid"/>
            <a:miter lim="0"/>
            <a:headEnd type="none" w="sm" len="sm"/>
            <a:tailEnd type="none" w="sm" len="sm"/>
          </a:ln>
        </p:spPr>
      </p:sp>
      <p:sp>
        <p:nvSpPr>
          <p:cNvPr id="130" name="Google Shape;130;p16"/>
          <p:cNvSpPr txBox="1">
            <a:spLocks noGrp="1"/>
          </p:cNvSpPr>
          <p:nvPr>
            <p:ph type="body" idx="6"/>
          </p:nvPr>
        </p:nvSpPr>
        <p:spPr>
          <a:xfrm>
            <a:off x="4441348" y="4781080"/>
            <a:ext cx="3303352" cy="1010119"/>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31" name="Google Shape;131;p16"/>
          <p:cNvSpPr txBox="1">
            <a:spLocks noGrp="1"/>
          </p:cNvSpPr>
          <p:nvPr>
            <p:ph type="body" idx="7"/>
          </p:nvPr>
        </p:nvSpPr>
        <p:spPr>
          <a:xfrm>
            <a:off x="7973298" y="4204820"/>
            <a:ext cx="3300681" cy="576262"/>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1000"/>
              </a:spcBef>
              <a:spcAft>
                <a:spcPts val="0"/>
              </a:spcAft>
              <a:buSzPts val="2200"/>
              <a:buNone/>
              <a:defRPr sz="2200" b="0">
                <a:solidFill>
                  <a:schemeClr val="dk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132" name="Google Shape;132;p16"/>
          <p:cNvSpPr>
            <a:spLocks noGrp="1"/>
          </p:cNvSpPr>
          <p:nvPr>
            <p:ph type="pic" idx="8"/>
          </p:nvPr>
        </p:nvSpPr>
        <p:spPr>
          <a:xfrm>
            <a:off x="7973298" y="2367093"/>
            <a:ext cx="3304928" cy="1524000"/>
          </a:xfrm>
          <a:prstGeom prst="roundRect">
            <a:avLst>
              <a:gd name="adj" fmla="val 8841"/>
            </a:avLst>
          </a:prstGeom>
          <a:noFill/>
          <a:ln w="82550" cap="sq" cmpd="sng">
            <a:solidFill>
              <a:srgbClr val="EAEAEA"/>
            </a:solidFill>
            <a:prstDash val="solid"/>
            <a:miter lim="0"/>
            <a:headEnd type="none" w="sm" len="sm"/>
            <a:tailEnd type="none" w="sm" len="sm"/>
          </a:ln>
        </p:spPr>
      </p:sp>
      <p:sp>
        <p:nvSpPr>
          <p:cNvPr id="133" name="Google Shape;133;p16"/>
          <p:cNvSpPr txBox="1">
            <a:spLocks noGrp="1"/>
          </p:cNvSpPr>
          <p:nvPr>
            <p:ph type="body" idx="9"/>
          </p:nvPr>
        </p:nvSpPr>
        <p:spPr>
          <a:xfrm>
            <a:off x="7973173" y="4781078"/>
            <a:ext cx="3305053" cy="101012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1000"/>
              </a:spcBef>
              <a:spcAft>
                <a:spcPts val="0"/>
              </a:spcAft>
              <a:buSzPts val="1400"/>
              <a:buNone/>
              <a:defRPr sz="1400"/>
            </a:lvl1pPr>
            <a:lvl2pPr marL="914400" lvl="1" indent="-228600" algn="l">
              <a:lnSpc>
                <a:spcPct val="120000"/>
              </a:lnSpc>
              <a:spcBef>
                <a:spcPts val="500"/>
              </a:spcBef>
              <a:spcAft>
                <a:spcPts val="0"/>
              </a:spcAft>
              <a:buSzPts val="1200"/>
              <a:buNone/>
              <a:defRPr sz="1200"/>
            </a:lvl2pPr>
            <a:lvl3pPr marL="1371600" lvl="2" indent="-228600" algn="l">
              <a:lnSpc>
                <a:spcPct val="120000"/>
              </a:lnSpc>
              <a:spcBef>
                <a:spcPts val="500"/>
              </a:spcBef>
              <a:spcAft>
                <a:spcPts val="0"/>
              </a:spcAft>
              <a:buSzPts val="1000"/>
              <a:buNone/>
              <a:defRPr sz="1000"/>
            </a:lvl3pPr>
            <a:lvl4pPr marL="1828800" lvl="3" indent="-228600" algn="l">
              <a:lnSpc>
                <a:spcPct val="120000"/>
              </a:lnSpc>
              <a:spcBef>
                <a:spcPts val="500"/>
              </a:spcBef>
              <a:spcAft>
                <a:spcPts val="0"/>
              </a:spcAft>
              <a:buSzPts val="900"/>
              <a:buNone/>
              <a:defRPr sz="900"/>
            </a:lvl4pPr>
            <a:lvl5pPr marL="2286000" lvl="4" indent="-228600" algn="l">
              <a:lnSpc>
                <a:spcPct val="120000"/>
              </a:lnSpc>
              <a:spcBef>
                <a:spcPts val="500"/>
              </a:spcBef>
              <a:spcAft>
                <a:spcPts val="0"/>
              </a:spcAft>
              <a:buSzPts val="900"/>
              <a:buNone/>
              <a:defRPr sz="900"/>
            </a:lvl5pPr>
            <a:lvl6pPr marL="2743200" lvl="5" indent="-228600" algn="l">
              <a:lnSpc>
                <a:spcPct val="120000"/>
              </a:lnSpc>
              <a:spcBef>
                <a:spcPts val="500"/>
              </a:spcBef>
              <a:spcAft>
                <a:spcPts val="0"/>
              </a:spcAft>
              <a:buSzPts val="900"/>
              <a:buNone/>
              <a:defRPr sz="900"/>
            </a:lvl6pPr>
            <a:lvl7pPr marL="3200400" lvl="6" indent="-228600" algn="l">
              <a:lnSpc>
                <a:spcPct val="120000"/>
              </a:lnSpc>
              <a:spcBef>
                <a:spcPts val="500"/>
              </a:spcBef>
              <a:spcAft>
                <a:spcPts val="0"/>
              </a:spcAft>
              <a:buSzPts val="900"/>
              <a:buNone/>
              <a:defRPr sz="900"/>
            </a:lvl7pPr>
            <a:lvl8pPr marL="3657600" lvl="7" indent="-228600" algn="l">
              <a:lnSpc>
                <a:spcPct val="120000"/>
              </a:lnSpc>
              <a:spcBef>
                <a:spcPts val="500"/>
              </a:spcBef>
              <a:spcAft>
                <a:spcPts val="0"/>
              </a:spcAft>
              <a:buSzPts val="900"/>
              <a:buNone/>
              <a:defRPr sz="900"/>
            </a:lvl8pPr>
            <a:lvl9pPr marL="4114800" lvl="8" indent="-228600" algn="l">
              <a:lnSpc>
                <a:spcPct val="120000"/>
              </a:lnSpc>
              <a:spcBef>
                <a:spcPts val="500"/>
              </a:spcBef>
              <a:spcAft>
                <a:spcPts val="0"/>
              </a:spcAft>
              <a:buSzPts val="900"/>
              <a:buNone/>
              <a:defRPr sz="900"/>
            </a:lvl9pPr>
          </a:lstStyle>
          <a:p>
            <a:endParaRPr/>
          </a:p>
        </p:txBody>
      </p:sp>
      <p:sp>
        <p:nvSpPr>
          <p:cNvPr id="134" name="Google Shape;134;p16"/>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16"/>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16"/>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7"/>
        <p:cNvGrpSpPr/>
        <p:nvPr/>
      </p:nvGrpSpPr>
      <p:grpSpPr>
        <a:xfrm>
          <a:off x="0" y="0"/>
          <a:ext cx="0" cy="0"/>
          <a:chOff x="0" y="0"/>
          <a:chExt cx="0" cy="0"/>
        </a:xfrm>
      </p:grpSpPr>
      <p:pic>
        <p:nvPicPr>
          <p:cNvPr id="138" name="Google Shape;138;p17"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9" name="Google Shape;139;p17"/>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17"/>
          <p:cNvSpPr txBox="1">
            <a:spLocks noGrp="1"/>
          </p:cNvSpPr>
          <p:nvPr>
            <p:ph type="body" idx="1"/>
          </p:nvPr>
        </p:nvSpPr>
        <p:spPr>
          <a:xfrm rot="5400000">
            <a:off x="4383948" y="-1103080"/>
            <a:ext cx="3424107" cy="103644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41" name="Google Shape;141;p17"/>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17"/>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17"/>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4"/>
        <p:cNvGrpSpPr/>
        <p:nvPr/>
      </p:nvGrpSpPr>
      <p:grpSpPr>
        <a:xfrm>
          <a:off x="0" y="0"/>
          <a:ext cx="0" cy="0"/>
          <a:chOff x="0" y="0"/>
          <a:chExt cx="0" cy="0"/>
        </a:xfrm>
      </p:grpSpPr>
      <p:pic>
        <p:nvPicPr>
          <p:cNvPr id="145" name="Google Shape;145;p18" descr="Droplets-HD-Content-R1d.png"/>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6" name="Google Shape;146;p18"/>
          <p:cNvSpPr txBox="1">
            <a:spLocks noGrp="1"/>
          </p:cNvSpPr>
          <p:nvPr>
            <p:ph type="title"/>
          </p:nvPr>
        </p:nvSpPr>
        <p:spPr>
          <a:xfrm rot="5400000">
            <a:off x="7410763" y="1923738"/>
            <a:ext cx="5181599" cy="25533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Twentieth Century"/>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18"/>
          <p:cNvSpPr txBox="1">
            <a:spLocks noGrp="1"/>
          </p:cNvSpPr>
          <p:nvPr>
            <p:ph type="body" idx="1"/>
          </p:nvPr>
        </p:nvSpPr>
        <p:spPr>
          <a:xfrm rot="5400000">
            <a:off x="2152338" y="-628962"/>
            <a:ext cx="5181599" cy="765872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148" name="Google Shape;148;p18"/>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18"/>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18"/>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100000">
              <a:srgbClr val="B7B7B7"/>
            </a:gs>
          </a:gsLst>
          <a:lin ang="5400000" scaled="0"/>
        </a:gradFill>
        <a:effectLst/>
      </p:bgPr>
    </p:bg>
    <p:spTree>
      <p:nvGrpSpPr>
        <p:cNvPr id="1" name="Shape 5"/>
        <p:cNvGrpSpPr/>
        <p:nvPr/>
      </p:nvGrpSpPr>
      <p:grpSpPr>
        <a:xfrm>
          <a:off x="0" y="0"/>
          <a:ext cx="0" cy="0"/>
          <a:chOff x="0" y="0"/>
          <a:chExt cx="0" cy="0"/>
        </a:xfrm>
      </p:grpSpPr>
      <p:pic>
        <p:nvPicPr>
          <p:cNvPr id="6" name="Google Shape;6;p1" descr="\\DROBO-FS\QuickDrops\JB\PPTX NG\Droplets\LightingOverlay.png"/>
          <p:cNvPicPr preferRelativeResize="0"/>
          <p:nvPr/>
        </p:nvPicPr>
        <p:blipFill rotWithShape="1">
          <a:blip r:embed="rId19">
            <a:alphaModFix/>
          </a:blip>
          <a:srcRect/>
          <a:stretch/>
        </p:blipFill>
        <p:spPr>
          <a:xfrm>
            <a:off x="0" y="-1"/>
            <a:ext cx="12192003" cy="6858001"/>
          </a:xfrm>
          <a:prstGeom prst="rect">
            <a:avLst/>
          </a:prstGeom>
          <a:noFill/>
          <a:ln>
            <a:noFill/>
          </a:ln>
        </p:spPr>
      </p:pic>
      <p:sp>
        <p:nvSpPr>
          <p:cNvPr id="7" name="Google Shape;7;p1"/>
          <p:cNvSpPr txBox="1">
            <a:spLocks noGrp="1"/>
          </p:cNvSpPr>
          <p:nvPr>
            <p:ph type="title"/>
          </p:nvPr>
        </p:nvSpPr>
        <p:spPr>
          <a:xfrm>
            <a:off x="913775" y="618517"/>
            <a:ext cx="10364451" cy="1596177"/>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dk1"/>
              </a:buClr>
              <a:buSzPts val="3600"/>
              <a:buFont typeface="Twentieth Century"/>
              <a:buNone/>
              <a:defRPr sz="3600" b="0" i="0" u="none" strike="noStrike" cap="none">
                <a:solidFill>
                  <a:schemeClr val="dk1"/>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913775" y="2367093"/>
            <a:ext cx="10364452" cy="3424107"/>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20000"/>
              </a:lnSpc>
              <a:spcBef>
                <a:spcPts val="1000"/>
              </a:spcBef>
              <a:spcAft>
                <a:spcPts val="0"/>
              </a:spcAft>
              <a:buClr>
                <a:schemeClr val="dk1"/>
              </a:buClr>
              <a:buSzPts val="2000"/>
              <a:buFont typeface="Arial"/>
              <a:buChar char="•"/>
              <a:defRPr sz="20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12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30200" algn="l" rtl="0">
              <a:lnSpc>
                <a:spcPct val="120000"/>
              </a:lnSpc>
              <a:spcBef>
                <a:spcPts val="500"/>
              </a:spcBef>
              <a:spcAft>
                <a:spcPts val="0"/>
              </a:spcAft>
              <a:buClr>
                <a:schemeClr val="dk1"/>
              </a:buClr>
              <a:buSzPts val="1600"/>
              <a:buFont typeface="Arial"/>
              <a:buChar char="•"/>
              <a:defRPr sz="1600" b="0" i="0" u="none" strike="noStrike" cap="none">
                <a:solidFill>
                  <a:schemeClr val="dk1"/>
                </a:solidFill>
                <a:latin typeface="Twentieth Century"/>
                <a:ea typeface="Twentieth Century"/>
                <a:cs typeface="Twentieth Century"/>
                <a:sym typeface="Twentieth Century"/>
              </a:defRPr>
            </a:lvl3pPr>
            <a:lvl4pPr marL="1828800" marR="0" lvl="3"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9" name="Google Shape;9;p1"/>
          <p:cNvSpPr txBox="1">
            <a:spLocks noGrp="1"/>
          </p:cNvSpPr>
          <p:nvPr>
            <p:ph type="dt" idx="10"/>
          </p:nvPr>
        </p:nvSpPr>
        <p:spPr>
          <a:xfrm>
            <a:off x="7678737" y="5883275"/>
            <a:ext cx="274320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0" name="Google Shape;10;p1"/>
          <p:cNvSpPr txBox="1">
            <a:spLocks noGrp="1"/>
          </p:cNvSpPr>
          <p:nvPr>
            <p:ph type="ftr" idx="11"/>
          </p:nvPr>
        </p:nvSpPr>
        <p:spPr>
          <a:xfrm>
            <a:off x="913774" y="5883275"/>
            <a:ext cx="6672887"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1" name="Google Shape;11;p1"/>
          <p:cNvSpPr txBox="1">
            <a:spLocks noGrp="1"/>
          </p:cNvSpPr>
          <p:nvPr>
            <p:ph type="sldNum" idx="12"/>
          </p:nvPr>
        </p:nvSpPr>
        <p:spPr>
          <a:xfrm>
            <a:off x="10514011" y="5883275"/>
            <a:ext cx="76421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9"/>
          <p:cNvSpPr txBox="1"/>
          <p:nvPr/>
        </p:nvSpPr>
        <p:spPr>
          <a:xfrm>
            <a:off x="129075" y="3964285"/>
            <a:ext cx="121920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IN" sz="2400" b="1" i="0" u="none" strike="noStrike" cap="none" dirty="0">
                <a:solidFill>
                  <a:schemeClr val="dk1"/>
                </a:solidFill>
                <a:latin typeface="Arial"/>
                <a:ea typeface="Arial"/>
                <a:cs typeface="Arial"/>
                <a:sym typeface="Arial"/>
              </a:rPr>
              <a:t>Internship:</a:t>
            </a:r>
            <a:r>
              <a:rPr lang="en-IN" sz="2400" b="0" i="0" u="none" strike="noStrike" cap="none" dirty="0">
                <a:solidFill>
                  <a:schemeClr val="dk1"/>
                </a:solidFill>
                <a:latin typeface="Arial"/>
                <a:ea typeface="Arial"/>
                <a:cs typeface="Arial"/>
                <a:sym typeface="Arial"/>
              </a:rPr>
              <a:t> Infosys Springboard Virtual Internship 7.0 </a:t>
            </a:r>
            <a:endParaRPr sz="2400" b="1" i="0" u="none" strike="noStrike" cap="none" dirty="0">
              <a:solidFill>
                <a:schemeClr val="dk1"/>
              </a:solidFill>
              <a:latin typeface="Twentieth Century"/>
              <a:ea typeface="Twentieth Century"/>
              <a:cs typeface="Twentieth Century"/>
              <a:sym typeface="Twentieth Century"/>
            </a:endParaRPr>
          </a:p>
        </p:txBody>
      </p:sp>
      <p:sp>
        <p:nvSpPr>
          <p:cNvPr id="156" name="Google Shape;156;p19"/>
          <p:cNvSpPr txBox="1"/>
          <p:nvPr/>
        </p:nvSpPr>
        <p:spPr>
          <a:xfrm>
            <a:off x="0" y="0"/>
            <a:ext cx="121920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chemeClr val="dk1"/>
                </a:solidFill>
                <a:latin typeface="Twentieth Century"/>
                <a:ea typeface="Twentieth Century"/>
                <a:cs typeface="Twentieth Century"/>
                <a:sym typeface="Twentieth Century"/>
              </a:rPr>
              <a:t>Supply Chain Visibility System with Optimization Analytics Group 1</a:t>
            </a:r>
            <a:endParaRPr sz="3000" b="1" i="0" u="none" strike="noStrike" cap="none">
              <a:solidFill>
                <a:schemeClr val="dk1"/>
              </a:solidFill>
              <a:latin typeface="Twentieth Century"/>
              <a:ea typeface="Twentieth Century"/>
              <a:cs typeface="Twentieth Century"/>
              <a:sym typeface="Twentieth Century"/>
            </a:endParaRPr>
          </a:p>
        </p:txBody>
      </p:sp>
      <p:sp>
        <p:nvSpPr>
          <p:cNvPr id="157" name="Google Shape;157;p19"/>
          <p:cNvSpPr txBox="1"/>
          <p:nvPr/>
        </p:nvSpPr>
        <p:spPr>
          <a:xfrm>
            <a:off x="129075" y="4916690"/>
            <a:ext cx="121920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IN" sz="2400" b="1" i="0" u="none" strike="noStrike" cap="none" dirty="0">
                <a:solidFill>
                  <a:schemeClr val="dk1"/>
                </a:solidFill>
                <a:latin typeface="Arial"/>
                <a:ea typeface="Arial"/>
                <a:cs typeface="Arial"/>
                <a:sym typeface="Arial"/>
              </a:rPr>
              <a:t>Mentor:</a:t>
            </a:r>
            <a:r>
              <a:rPr lang="en-IN" sz="2400" b="0" i="0" u="none" strike="noStrike" cap="none" dirty="0">
                <a:solidFill>
                  <a:schemeClr val="dk1"/>
                </a:solidFill>
                <a:latin typeface="Arial"/>
                <a:ea typeface="Arial"/>
                <a:cs typeface="Arial"/>
                <a:sym typeface="Arial"/>
              </a:rPr>
              <a:t> Ms. Nityasree  </a:t>
            </a:r>
            <a:endParaRPr sz="2400" b="0" i="0" u="none" strike="noStrike" cap="none" dirty="0">
              <a:solidFill>
                <a:schemeClr val="dk1"/>
              </a:solidFill>
              <a:latin typeface="Twentieth Century"/>
              <a:ea typeface="Twentieth Century"/>
              <a:cs typeface="Twentieth Century"/>
              <a:sym typeface="Twentieth Century"/>
            </a:endParaRPr>
          </a:p>
        </p:txBody>
      </p:sp>
      <p:sp>
        <p:nvSpPr>
          <p:cNvPr id="158" name="Google Shape;158;p19"/>
          <p:cNvSpPr txBox="1"/>
          <p:nvPr/>
        </p:nvSpPr>
        <p:spPr>
          <a:xfrm>
            <a:off x="129075" y="1087600"/>
            <a:ext cx="11863500" cy="13545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0"/>
              </a:spcAft>
              <a:buClr>
                <a:schemeClr val="dk1"/>
              </a:buClr>
              <a:buSzPts val="1100"/>
              <a:buFont typeface="Arial"/>
              <a:buNone/>
            </a:pPr>
            <a:r>
              <a:rPr lang="en-IN" sz="2000" b="0" i="1" u="none" strike="noStrike" cap="none">
                <a:solidFill>
                  <a:schemeClr val="dk1"/>
                </a:solidFill>
                <a:latin typeface="Arial"/>
                <a:ea typeface="Arial"/>
                <a:cs typeface="Arial"/>
                <a:sym typeface="Arial"/>
              </a:rPr>
              <a:t>An interactive Power BI-based solution for analyzing supply chain performance and generating meaningful business insights. </a:t>
            </a:r>
            <a:endParaRPr sz="2000" b="0" i="1"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000"/>
              <a:buFont typeface="Arial"/>
              <a:buNone/>
            </a:pPr>
            <a:endParaRPr sz="2000" b="0" i="0" u="none" strike="noStrike" cap="none">
              <a:solidFill>
                <a:schemeClr val="dk1"/>
              </a:solidFill>
              <a:latin typeface="Twentieth Century"/>
              <a:ea typeface="Twentieth Century"/>
              <a:cs typeface="Twentieth Century"/>
              <a:sym typeface="Twentieth Century"/>
            </a:endParaRPr>
          </a:p>
        </p:txBody>
      </p:sp>
      <p:sp>
        <p:nvSpPr>
          <p:cNvPr id="159" name="Google Shape;159;p19"/>
          <p:cNvSpPr txBox="1"/>
          <p:nvPr/>
        </p:nvSpPr>
        <p:spPr>
          <a:xfrm>
            <a:off x="-35175" y="2316540"/>
            <a:ext cx="12192000" cy="180354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0"/>
              </a:spcAft>
              <a:buClr>
                <a:schemeClr val="dk1"/>
              </a:buClr>
              <a:buSzPts val="1100"/>
              <a:buFont typeface="Arial"/>
              <a:buNone/>
            </a:pPr>
            <a:r>
              <a:rPr lang="en-IN" sz="2400" b="1" i="0" u="none" strike="noStrike" cap="none" dirty="0">
                <a:solidFill>
                  <a:schemeClr val="dk1"/>
                </a:solidFill>
                <a:latin typeface="Arial"/>
                <a:ea typeface="Arial"/>
                <a:cs typeface="Arial"/>
                <a:sym typeface="Arial"/>
              </a:rPr>
              <a:t>Team Member:</a:t>
            </a:r>
            <a:r>
              <a:rPr lang="en-IN" sz="2400" b="0" i="0" u="none" strike="noStrike" cap="none" dirty="0">
                <a:solidFill>
                  <a:schemeClr val="dk1"/>
                </a:solidFill>
                <a:latin typeface="Arial"/>
                <a:ea typeface="Arial"/>
                <a:cs typeface="Arial"/>
                <a:sym typeface="Arial"/>
              </a:rPr>
              <a:t> Kapu Tejaswini</a:t>
            </a:r>
          </a:p>
          <a:p>
            <a:pPr marL="0" marR="0" lvl="0" indent="0" algn="ctr" rtl="0">
              <a:lnSpc>
                <a:spcPct val="115000"/>
              </a:lnSpc>
              <a:spcBef>
                <a:spcPts val="1200"/>
              </a:spcBef>
              <a:spcAft>
                <a:spcPts val="0"/>
              </a:spcAft>
              <a:buClr>
                <a:schemeClr val="dk1"/>
              </a:buClr>
              <a:buSzPts val="1100"/>
              <a:buFont typeface="Arial"/>
              <a:buNone/>
            </a:pPr>
            <a:r>
              <a:rPr lang="en-IN" sz="2400" dirty="0">
                <a:solidFill>
                  <a:schemeClr val="dk1"/>
                </a:solidFill>
              </a:rPr>
              <a:t>                                               Challa Jaya Deepika Reddy</a:t>
            </a: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000"/>
              <a:buFont typeface="Arial"/>
              <a:buNone/>
            </a:pPr>
            <a:endParaRPr sz="2000" b="0" i="0" u="none" strike="noStrike" cap="none" dirty="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520900" y="748725"/>
            <a:ext cx="11408400" cy="6527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2400"/>
              <a:buFont typeface="Arial"/>
              <a:buNone/>
            </a:pPr>
            <a:r>
              <a:rPr lang="en-IN" sz="2400" b="1" i="0" u="none" strike="noStrike" cap="none">
                <a:solidFill>
                  <a:schemeClr val="dk1"/>
                </a:solidFill>
                <a:latin typeface="Arial"/>
                <a:ea typeface="Arial"/>
                <a:cs typeface="Arial"/>
                <a:sym typeface="Arial"/>
              </a:rPr>
              <a:t>Project Objective</a:t>
            </a:r>
            <a:endParaRPr sz="2400" b="1" i="0" u="none" strike="noStrike" cap="none">
              <a:solidFill>
                <a:schemeClr val="dk1"/>
              </a:solidFill>
              <a:latin typeface="Arial"/>
              <a:ea typeface="Arial"/>
              <a:cs typeface="Arial"/>
              <a:sym typeface="Arial"/>
            </a:endParaRPr>
          </a:p>
          <a:p>
            <a:pPr marL="457200" marR="0" lvl="0" indent="-368300" algn="l" rtl="0">
              <a:lnSpc>
                <a:spcPct val="115000"/>
              </a:lnSpc>
              <a:spcBef>
                <a:spcPts val="120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To improve visibility into overall supply chain performance.</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To analyze sales, orders, products, customers, delivery, shipping, markets, discounts, and profitability.</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To transform raw supply chain data into meaningful and interactive visual insights.</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To support data-driven business analysis and decision-making.</a:t>
            </a:r>
            <a:endParaRPr sz="22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2400"/>
              <a:buFont typeface="Arial"/>
              <a:buNone/>
            </a:pPr>
            <a:r>
              <a:rPr lang="en-IN" sz="2400" b="1" i="0" u="none" strike="noStrike" cap="none">
                <a:solidFill>
                  <a:schemeClr val="dk1"/>
                </a:solidFill>
                <a:latin typeface="Arial"/>
                <a:ea typeface="Arial"/>
                <a:cs typeface="Arial"/>
                <a:sym typeface="Arial"/>
              </a:rPr>
              <a:t>Project Modules</a:t>
            </a:r>
            <a:endParaRPr sz="2400" b="1" i="0" u="none" strike="noStrike" cap="none">
              <a:solidFill>
                <a:schemeClr val="dk1"/>
              </a:solidFill>
              <a:latin typeface="Arial"/>
              <a:ea typeface="Arial"/>
              <a:cs typeface="Arial"/>
              <a:sym typeface="Arial"/>
            </a:endParaRPr>
          </a:p>
          <a:p>
            <a:pPr marL="457200" marR="0" lvl="0" indent="-368300" algn="l" rtl="0">
              <a:lnSpc>
                <a:spcPct val="115000"/>
              </a:lnSpc>
              <a:spcBef>
                <a:spcPts val="120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Data Acquisition &amp; Understanding</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Data Cleaning &amp; Preprocessing</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Data Transformation &amp; Analysis</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Power BI Dashboard Development</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Char char="●"/>
            </a:pPr>
            <a:r>
              <a:rPr lang="en-IN" sz="2200" b="0" i="0" u="none" strike="noStrike" cap="none">
                <a:solidFill>
                  <a:schemeClr val="dk1"/>
                </a:solidFill>
                <a:latin typeface="Arial"/>
                <a:ea typeface="Arial"/>
                <a:cs typeface="Arial"/>
                <a:sym typeface="Arial"/>
              </a:rPr>
              <a:t>Insights &amp; Business Recommendations</a:t>
            </a:r>
            <a:endParaRPr sz="2200" b="0" i="0" u="none" strike="noStrike" cap="none">
              <a:solidFill>
                <a:schemeClr val="dk1"/>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800"/>
              <a:buFont typeface="Arial"/>
              <a:buNone/>
            </a:pPr>
            <a:endParaRPr sz="2800" b="1"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000"/>
              <a:buFont typeface="Arial"/>
              <a:buNone/>
            </a:pPr>
            <a:endParaRPr sz="2000" b="0" i="0" u="none" strike="noStrike" cap="none">
              <a:solidFill>
                <a:schemeClr val="dk1"/>
              </a:solidFill>
              <a:latin typeface="Twentieth Century"/>
              <a:ea typeface="Twentieth Century"/>
              <a:cs typeface="Twentieth Century"/>
              <a:sym typeface="Twentieth Century"/>
            </a:endParaRPr>
          </a:p>
        </p:txBody>
      </p:sp>
      <p:sp>
        <p:nvSpPr>
          <p:cNvPr id="165" name="Google Shape;165;p20"/>
          <p:cNvSpPr txBox="1"/>
          <p:nvPr/>
        </p:nvSpPr>
        <p:spPr>
          <a:xfrm>
            <a:off x="0" y="0"/>
            <a:ext cx="121920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chemeClr val="dk1"/>
                </a:solidFill>
                <a:latin typeface="Twentieth Century"/>
                <a:ea typeface="Twentieth Century"/>
                <a:cs typeface="Twentieth Century"/>
                <a:sym typeface="Twentieth Century"/>
              </a:rPr>
              <a:t>PROJECT OBJECTIVE</a:t>
            </a:r>
            <a:endParaRPr sz="3000" b="1" i="0" u="none" strike="noStrike" cap="non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1"/>
          <p:cNvSpPr txBox="1"/>
          <p:nvPr/>
        </p:nvSpPr>
        <p:spPr>
          <a:xfrm>
            <a:off x="0" y="0"/>
            <a:ext cx="121920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IN" sz="2400" b="1" i="0" u="none" strike="noStrike" cap="none">
                <a:solidFill>
                  <a:schemeClr val="dk1"/>
                </a:solidFill>
                <a:latin typeface="Twentieth Century"/>
                <a:ea typeface="Twentieth Century"/>
                <a:cs typeface="Twentieth Century"/>
                <a:sym typeface="Twentieth Century"/>
              </a:rPr>
              <a:t>PROJECT EXECUTION MILESTONES </a:t>
            </a:r>
            <a:endParaRPr sz="2400" b="1" i="0" u="none" strike="noStrike" cap="none">
              <a:solidFill>
                <a:schemeClr val="dk1"/>
              </a:solidFill>
              <a:latin typeface="Twentieth Century"/>
              <a:ea typeface="Twentieth Century"/>
              <a:cs typeface="Twentieth Century"/>
              <a:sym typeface="Twentieth Century"/>
            </a:endParaRPr>
          </a:p>
        </p:txBody>
      </p:sp>
      <p:sp>
        <p:nvSpPr>
          <p:cNvPr id="171" name="Google Shape;171;p21"/>
          <p:cNvSpPr txBox="1"/>
          <p:nvPr/>
        </p:nvSpPr>
        <p:spPr>
          <a:xfrm>
            <a:off x="0" y="597775"/>
            <a:ext cx="12192000" cy="6880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2000"/>
              <a:buFont typeface="Arial"/>
              <a:buNone/>
            </a:pPr>
            <a:r>
              <a:rPr lang="en-IN" sz="2000" b="1" i="0" u="none" strike="noStrike" cap="none">
                <a:solidFill>
                  <a:schemeClr val="dk1"/>
                </a:solidFill>
                <a:latin typeface="Arial"/>
                <a:ea typeface="Arial"/>
                <a:cs typeface="Arial"/>
                <a:sym typeface="Arial"/>
              </a:rPr>
              <a:t>Milestone 1 – Data Acquisition &amp; Cleaning</a:t>
            </a:r>
            <a:endParaRPr sz="2000" b="1" i="0" u="none" strike="noStrike" cap="none">
              <a:solidFill>
                <a:schemeClr val="dk1"/>
              </a:solidFill>
              <a:latin typeface="Arial"/>
              <a:ea typeface="Arial"/>
              <a:cs typeface="Arial"/>
              <a:sym typeface="Arial"/>
            </a:endParaRPr>
          </a:p>
          <a:p>
            <a:pPr marL="457200" marR="0" lvl="0" indent="-342900" algn="l" rtl="0">
              <a:lnSpc>
                <a:spcPct val="115000"/>
              </a:lnSpc>
              <a:spcBef>
                <a:spcPts val="120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Collected and studied the DataCo Supply Chain Dataset, performed data preprocessing and cleaning using Power Query Editor, corrected data types, removed unnecessary columns, handled duplicates, and prepared the dataset for analysis.</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2000"/>
              <a:buFont typeface="Arial"/>
              <a:buNone/>
            </a:pPr>
            <a:r>
              <a:rPr lang="en-IN" sz="2000" b="1" i="0" u="none" strike="noStrike" cap="none">
                <a:solidFill>
                  <a:schemeClr val="dk1"/>
                </a:solidFill>
                <a:latin typeface="Arial"/>
                <a:ea typeface="Arial"/>
                <a:cs typeface="Arial"/>
                <a:sym typeface="Arial"/>
              </a:rPr>
              <a:t>Milestone 2 – Data Modeling</a:t>
            </a:r>
            <a:endParaRPr sz="2000" b="1" i="0" u="none" strike="noStrike" cap="none">
              <a:solidFill>
                <a:schemeClr val="dk1"/>
              </a:solidFill>
              <a:latin typeface="Arial"/>
              <a:ea typeface="Arial"/>
              <a:cs typeface="Arial"/>
              <a:sym typeface="Arial"/>
            </a:endParaRPr>
          </a:p>
          <a:p>
            <a:pPr marL="457200" marR="0" lvl="0" indent="-342900" algn="l" rtl="0">
              <a:lnSpc>
                <a:spcPct val="115000"/>
              </a:lnSpc>
              <a:spcBef>
                <a:spcPts val="120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Transformed the cleaned dataset into an analysis-ready structure, created required calculated and derived fields, organized relevant attributes, and prepared the data for Power BI analysis and visualization.</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2000"/>
              <a:buFont typeface="Arial"/>
              <a:buNone/>
            </a:pPr>
            <a:r>
              <a:rPr lang="en-IN" sz="2000" b="1" i="0" u="none" strike="noStrike" cap="none">
                <a:solidFill>
                  <a:schemeClr val="dk1"/>
                </a:solidFill>
                <a:latin typeface="Arial"/>
                <a:ea typeface="Arial"/>
                <a:cs typeface="Arial"/>
                <a:sym typeface="Arial"/>
              </a:rPr>
              <a:t>Milestone 3 – Development</a:t>
            </a:r>
            <a:endParaRPr sz="2000" b="1" i="0" u="none" strike="noStrike" cap="none">
              <a:solidFill>
                <a:schemeClr val="dk1"/>
              </a:solidFill>
              <a:latin typeface="Arial"/>
              <a:ea typeface="Arial"/>
              <a:cs typeface="Arial"/>
              <a:sym typeface="Arial"/>
            </a:endParaRPr>
          </a:p>
          <a:p>
            <a:pPr marL="457200" marR="0" lvl="0" indent="-342900" algn="l" rtl="0">
              <a:lnSpc>
                <a:spcPct val="115000"/>
              </a:lnSpc>
              <a:spcBef>
                <a:spcPts val="120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Developed </a:t>
            </a:r>
            <a:r>
              <a:rPr lang="en-IN" sz="1800" b="1" i="0" u="none" strike="noStrike" cap="none">
                <a:solidFill>
                  <a:schemeClr val="dk1"/>
                </a:solidFill>
                <a:latin typeface="Arial"/>
                <a:ea typeface="Arial"/>
                <a:cs typeface="Arial"/>
                <a:sym typeface="Arial"/>
              </a:rPr>
              <a:t>seven interactive Power BI dashboards</a:t>
            </a:r>
            <a:r>
              <a:rPr lang="en-IN" sz="1800" b="0" i="0" u="none" strike="noStrike" cap="none">
                <a:solidFill>
                  <a:schemeClr val="dk1"/>
                </a:solidFill>
                <a:latin typeface="Arial"/>
                <a:ea typeface="Arial"/>
                <a:cs typeface="Arial"/>
                <a:sym typeface="Arial"/>
              </a:rPr>
              <a:t> covering supply chain performance, product and pricing, customer and geography, delivery and shipping, regional and market performance, orders and discounts, and profitability.</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2000"/>
              <a:buFont typeface="Arial"/>
              <a:buNone/>
            </a:pPr>
            <a:r>
              <a:rPr lang="en-IN" sz="2000" b="1" i="0" u="none" strike="noStrike" cap="none">
                <a:solidFill>
                  <a:schemeClr val="dk1"/>
                </a:solidFill>
                <a:latin typeface="Arial"/>
                <a:ea typeface="Arial"/>
                <a:cs typeface="Arial"/>
                <a:sym typeface="Arial"/>
              </a:rPr>
              <a:t>Milestone 4 – Review &amp; Optimization</a:t>
            </a:r>
            <a:endParaRPr sz="2000" b="1" i="0" u="none" strike="noStrike" cap="none">
              <a:solidFill>
                <a:schemeClr val="dk1"/>
              </a:solidFill>
              <a:latin typeface="Arial"/>
              <a:ea typeface="Arial"/>
              <a:cs typeface="Arial"/>
              <a:sym typeface="Arial"/>
            </a:endParaRPr>
          </a:p>
          <a:p>
            <a:pPr marL="457200" marR="0" lvl="0" indent="-342900" algn="l" rtl="0">
              <a:lnSpc>
                <a:spcPct val="115000"/>
              </a:lnSpc>
              <a:spcBef>
                <a:spcPts val="1200"/>
              </a:spcBef>
              <a:spcAft>
                <a:spcPts val="0"/>
              </a:spcAft>
              <a:buClr>
                <a:schemeClr val="dk1"/>
              </a:buClr>
              <a:buSzPts val="1800"/>
              <a:buFont typeface="Arial"/>
              <a:buChar char="●"/>
            </a:pPr>
            <a:r>
              <a:rPr lang="en-IN" sz="1800" b="0" i="0" u="none" strike="noStrike" cap="none">
                <a:solidFill>
                  <a:schemeClr val="dk1"/>
                </a:solidFill>
                <a:latin typeface="Arial"/>
                <a:ea typeface="Arial"/>
                <a:cs typeface="Arial"/>
                <a:sym typeface="Arial"/>
              </a:rPr>
              <a:t>Reviewed and validated all seven dashboards, checked visualization accuracy and consistency, improved dashboard formatting, generated business insights, and finalized the project documentation and presentation.</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000"/>
              <a:buFont typeface="Arial"/>
              <a:buNone/>
            </a:pPr>
            <a:endParaRPr sz="2000" b="1"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2"/>
          <p:cNvSpPr txBox="1"/>
          <p:nvPr/>
        </p:nvSpPr>
        <p:spPr>
          <a:xfrm>
            <a:off x="0" y="0"/>
            <a:ext cx="122226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chemeClr val="dk1"/>
                </a:solidFill>
                <a:latin typeface="Twentieth Century"/>
                <a:ea typeface="Twentieth Century"/>
                <a:cs typeface="Twentieth Century"/>
                <a:sym typeface="Twentieth Century"/>
              </a:rPr>
              <a:t>CHALLENGES &amp; RESOLUTIONS </a:t>
            </a:r>
            <a:endParaRPr sz="3000" b="1" i="0" u="none" strike="noStrike" cap="none">
              <a:solidFill>
                <a:schemeClr val="dk1"/>
              </a:solidFill>
              <a:latin typeface="Twentieth Century"/>
              <a:ea typeface="Twentieth Century"/>
              <a:cs typeface="Twentieth Century"/>
              <a:sym typeface="Twentieth Century"/>
            </a:endParaRPr>
          </a:p>
        </p:txBody>
      </p:sp>
      <p:sp>
        <p:nvSpPr>
          <p:cNvPr id="177" name="Google Shape;177;p22"/>
          <p:cNvSpPr txBox="1"/>
          <p:nvPr/>
        </p:nvSpPr>
        <p:spPr>
          <a:xfrm>
            <a:off x="261400" y="764875"/>
            <a:ext cx="11930700" cy="6328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100"/>
              <a:buFont typeface="Arial"/>
              <a:buNone/>
            </a:pPr>
            <a:r>
              <a:rPr lang="en-IN" sz="2400" b="1" i="0" u="none" strike="noStrike" cap="none">
                <a:solidFill>
                  <a:schemeClr val="dk1"/>
                </a:solidFill>
                <a:latin typeface="Arial"/>
                <a:ea typeface="Arial"/>
                <a:cs typeface="Arial"/>
                <a:sym typeface="Arial"/>
              </a:rPr>
              <a:t>Challenges</a:t>
            </a:r>
            <a:endParaRPr sz="2400" b="1" i="0" u="none" strike="noStrike" cap="none">
              <a:solidFill>
                <a:schemeClr val="dk1"/>
              </a:solidFill>
              <a:latin typeface="Arial"/>
              <a:ea typeface="Arial"/>
              <a:cs typeface="Arial"/>
              <a:sym typeface="Arial"/>
            </a:endParaRPr>
          </a:p>
          <a:p>
            <a:pPr marL="457200" marR="0" lvl="0" indent="-368300" algn="l" rtl="0">
              <a:lnSpc>
                <a:spcPct val="115000"/>
              </a:lnSpc>
              <a:spcBef>
                <a:spcPts val="1200"/>
              </a:spcBef>
              <a:spcAft>
                <a:spcPts val="0"/>
              </a:spcAft>
              <a:buClr>
                <a:schemeClr val="dk1"/>
              </a:buClr>
              <a:buSzPts val="2200"/>
              <a:buFont typeface="Arial"/>
              <a:buAutoNum type="arabicPeriod"/>
            </a:pPr>
            <a:r>
              <a:rPr lang="en-IN" sz="2200" b="0" i="0" u="none" strike="noStrike" cap="none">
                <a:solidFill>
                  <a:schemeClr val="dk1"/>
                </a:solidFill>
                <a:latin typeface="Arial"/>
                <a:ea typeface="Arial"/>
                <a:cs typeface="Arial"/>
                <a:sym typeface="Arial"/>
              </a:rPr>
              <a:t>The dataset contained a large number of records and columns, making it difficult to identify the most relevant information.</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AutoNum type="arabicPeriod"/>
            </a:pPr>
            <a:r>
              <a:rPr lang="en-IN" sz="2200" b="0" i="0" u="none" strike="noStrike" cap="none">
                <a:solidFill>
                  <a:schemeClr val="dk1"/>
                </a:solidFill>
                <a:latin typeface="Arial"/>
                <a:ea typeface="Arial"/>
                <a:cs typeface="Arial"/>
                <a:sym typeface="Arial"/>
              </a:rPr>
              <a:t>Several data fields required cleaning, transformation, and correct data-type assignment before analysis.</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AutoNum type="arabicPeriod"/>
            </a:pPr>
            <a:r>
              <a:rPr lang="en-IN" sz="2200" b="0" i="0" u="none" strike="noStrike" cap="none">
                <a:solidFill>
                  <a:schemeClr val="dk1"/>
                </a:solidFill>
                <a:latin typeface="Arial"/>
                <a:ea typeface="Arial"/>
                <a:cs typeface="Arial"/>
                <a:sym typeface="Arial"/>
              </a:rPr>
              <a:t>Different business areas needed to be represented through suitable and meaningful Power BI visualizations.</a:t>
            </a:r>
            <a:endParaRPr sz="22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chemeClr val="dk1"/>
              </a:buClr>
              <a:buSzPts val="1100"/>
              <a:buFont typeface="Arial"/>
              <a:buNone/>
            </a:pPr>
            <a:r>
              <a:rPr lang="en-IN" sz="2400" b="1" i="0" u="none" strike="noStrike" cap="none">
                <a:solidFill>
                  <a:schemeClr val="dk1"/>
                </a:solidFill>
                <a:latin typeface="Arial"/>
                <a:ea typeface="Arial"/>
                <a:cs typeface="Arial"/>
                <a:sym typeface="Arial"/>
              </a:rPr>
              <a:t>Resolutions</a:t>
            </a:r>
            <a:endParaRPr sz="2400" b="1" i="0" u="none" strike="noStrike" cap="none">
              <a:solidFill>
                <a:schemeClr val="dk1"/>
              </a:solidFill>
              <a:latin typeface="Arial"/>
              <a:ea typeface="Arial"/>
              <a:cs typeface="Arial"/>
              <a:sym typeface="Arial"/>
            </a:endParaRPr>
          </a:p>
          <a:p>
            <a:pPr marL="457200" marR="0" lvl="0" indent="-368300" algn="l" rtl="0">
              <a:lnSpc>
                <a:spcPct val="115000"/>
              </a:lnSpc>
              <a:spcBef>
                <a:spcPts val="1200"/>
              </a:spcBef>
              <a:spcAft>
                <a:spcPts val="0"/>
              </a:spcAft>
              <a:buClr>
                <a:schemeClr val="dk1"/>
              </a:buClr>
              <a:buSzPts val="2200"/>
              <a:buFont typeface="Arial"/>
              <a:buAutoNum type="arabicPeriod"/>
            </a:pPr>
            <a:r>
              <a:rPr lang="en-IN" sz="2200" b="0" i="0" u="none" strike="noStrike" cap="none">
                <a:solidFill>
                  <a:schemeClr val="dk1"/>
                </a:solidFill>
                <a:latin typeface="Arial"/>
                <a:ea typeface="Arial"/>
                <a:cs typeface="Arial"/>
                <a:sym typeface="Arial"/>
              </a:rPr>
              <a:t>Studied the dataset structure and identified relevant attributes according to the project requirements.</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AutoNum type="arabicPeriod"/>
            </a:pPr>
            <a:r>
              <a:rPr lang="en-IN" sz="2200" b="0" i="0" u="none" strike="noStrike" cap="none">
                <a:solidFill>
                  <a:schemeClr val="dk1"/>
                </a:solidFill>
                <a:latin typeface="Arial"/>
                <a:ea typeface="Arial"/>
                <a:cs typeface="Arial"/>
                <a:sym typeface="Arial"/>
              </a:rPr>
              <a:t>Used </a:t>
            </a:r>
            <a:r>
              <a:rPr lang="en-IN" sz="2200" b="1" i="0" u="none" strike="noStrike" cap="none">
                <a:solidFill>
                  <a:schemeClr val="dk1"/>
                </a:solidFill>
                <a:latin typeface="Arial"/>
                <a:ea typeface="Arial"/>
                <a:cs typeface="Arial"/>
                <a:sym typeface="Arial"/>
              </a:rPr>
              <a:t>Power Query Editor</a:t>
            </a:r>
            <a:r>
              <a:rPr lang="en-IN" sz="2200" b="0" i="0" u="none" strike="noStrike" cap="none">
                <a:solidFill>
                  <a:schemeClr val="dk1"/>
                </a:solidFill>
                <a:latin typeface="Arial"/>
                <a:ea typeface="Arial"/>
                <a:cs typeface="Arial"/>
                <a:sym typeface="Arial"/>
              </a:rPr>
              <a:t> to clean, transform, rename, and prepare the dataset.</a:t>
            </a:r>
            <a:endParaRPr sz="2200" b="0" i="0" u="none" strike="noStrike" cap="none">
              <a:solidFill>
                <a:schemeClr val="dk1"/>
              </a:solidFill>
              <a:latin typeface="Arial"/>
              <a:ea typeface="Arial"/>
              <a:cs typeface="Arial"/>
              <a:sym typeface="Arial"/>
            </a:endParaRPr>
          </a:p>
          <a:p>
            <a:pPr marL="457200" marR="0" lvl="0" indent="-368300" algn="l" rtl="0">
              <a:lnSpc>
                <a:spcPct val="115000"/>
              </a:lnSpc>
              <a:spcBef>
                <a:spcPts val="0"/>
              </a:spcBef>
              <a:spcAft>
                <a:spcPts val="0"/>
              </a:spcAft>
              <a:buClr>
                <a:schemeClr val="dk1"/>
              </a:buClr>
              <a:buSzPts val="2200"/>
              <a:buFont typeface="Arial"/>
              <a:buAutoNum type="arabicPeriod"/>
            </a:pPr>
            <a:r>
              <a:rPr lang="en-IN" sz="2200" b="0" i="0" u="none" strike="noStrike" cap="none">
                <a:solidFill>
                  <a:schemeClr val="dk1"/>
                </a:solidFill>
                <a:latin typeface="Arial"/>
                <a:ea typeface="Arial"/>
                <a:cs typeface="Arial"/>
                <a:sym typeface="Arial"/>
              </a:rPr>
              <a:t>Selected appropriate Power BI visualizations and organized the analysis into seven focused dashboards.</a:t>
            </a:r>
            <a:endParaRPr sz="22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400"/>
              <a:buFont typeface="Arial"/>
              <a:buNone/>
            </a:pPr>
            <a:endParaRPr sz="2400" b="1"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p:nvPr/>
        </p:nvSpPr>
        <p:spPr>
          <a:xfrm>
            <a:off x="307375" y="0"/>
            <a:ext cx="9351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3000" b="1">
                <a:solidFill>
                  <a:schemeClr val="dk1"/>
                </a:solidFill>
                <a:latin typeface="Twentieth Century"/>
                <a:ea typeface="Twentieth Century"/>
                <a:cs typeface="Twentieth Century"/>
                <a:sym typeface="Twentieth Century"/>
              </a:rPr>
              <a:t>Workflow :</a:t>
            </a:r>
            <a:endParaRPr sz="3000" b="1">
              <a:solidFill>
                <a:schemeClr val="dk1"/>
              </a:solidFill>
              <a:latin typeface="Twentieth Century"/>
              <a:ea typeface="Twentieth Century"/>
              <a:cs typeface="Twentieth Century"/>
              <a:sym typeface="Twentieth Century"/>
            </a:endParaRPr>
          </a:p>
        </p:txBody>
      </p:sp>
      <p:pic>
        <p:nvPicPr>
          <p:cNvPr id="3" name="Picture 2">
            <a:extLst>
              <a:ext uri="{FF2B5EF4-FFF2-40B4-BE49-F238E27FC236}">
                <a16:creationId xmlns:a16="http://schemas.microsoft.com/office/drawing/2014/main" id="{6EE4D566-A3F4-E89E-55D0-91C895BE9DB7}"/>
              </a:ext>
            </a:extLst>
          </p:cNvPr>
          <p:cNvPicPr>
            <a:picLocks noChangeAspect="1"/>
          </p:cNvPicPr>
          <p:nvPr/>
        </p:nvPicPr>
        <p:blipFill>
          <a:blip r:embed="rId3"/>
          <a:stretch>
            <a:fillRect/>
          </a:stretch>
        </p:blipFill>
        <p:spPr>
          <a:xfrm>
            <a:off x="3972232" y="609599"/>
            <a:ext cx="3998349" cy="58993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4"/>
          <p:cNvSpPr txBox="1"/>
          <p:nvPr/>
        </p:nvSpPr>
        <p:spPr>
          <a:xfrm>
            <a:off x="0" y="135550"/>
            <a:ext cx="121920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chemeClr val="dk1"/>
                </a:solidFill>
                <a:latin typeface="Twentieth Century"/>
                <a:ea typeface="Twentieth Century"/>
                <a:cs typeface="Twentieth Century"/>
                <a:sym typeface="Twentieth Century"/>
              </a:rPr>
              <a:t>FUTURE ENHANCEMENTS &amp; KEY INSIGHTS </a:t>
            </a:r>
            <a:endParaRPr sz="3000" b="1" i="0" u="none" strike="noStrike" cap="none">
              <a:solidFill>
                <a:schemeClr val="dk1"/>
              </a:solidFill>
              <a:latin typeface="Twentieth Century"/>
              <a:ea typeface="Twentieth Century"/>
              <a:cs typeface="Twentieth Century"/>
              <a:sym typeface="Twentieth Century"/>
            </a:endParaRPr>
          </a:p>
        </p:txBody>
      </p:sp>
      <p:sp>
        <p:nvSpPr>
          <p:cNvPr id="189" name="Google Shape;189;p24"/>
          <p:cNvSpPr txBox="1"/>
          <p:nvPr/>
        </p:nvSpPr>
        <p:spPr>
          <a:xfrm>
            <a:off x="277550" y="955275"/>
            <a:ext cx="11844300" cy="5099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100"/>
              <a:buFont typeface="Arial"/>
              <a:buNone/>
            </a:pPr>
            <a:r>
              <a:rPr lang="en-IN" sz="2800" b="1" i="0" u="none" strike="noStrike" cap="none">
                <a:solidFill>
                  <a:schemeClr val="dk1"/>
                </a:solidFill>
                <a:latin typeface="Arial"/>
                <a:ea typeface="Arial"/>
                <a:cs typeface="Arial"/>
                <a:sym typeface="Arial"/>
              </a:rPr>
              <a:t>Future Enhancements</a:t>
            </a:r>
            <a:endParaRPr sz="2800" b="1" i="0" u="none" strike="noStrike" cap="none">
              <a:solidFill>
                <a:schemeClr val="dk1"/>
              </a:solidFill>
              <a:latin typeface="Arial"/>
              <a:ea typeface="Arial"/>
              <a:cs typeface="Arial"/>
              <a:sym typeface="Arial"/>
            </a:endParaRPr>
          </a:p>
          <a:p>
            <a:pPr marL="457200" marR="0" lvl="0" indent="-381000" algn="l" rtl="0">
              <a:lnSpc>
                <a:spcPct val="115000"/>
              </a:lnSpc>
              <a:spcBef>
                <a:spcPts val="120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Integrate real-time supply chain data for continuous monitoring.</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Add sales and demand forecasting capabilities.</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Develop predictive analysis for potential late deliveries.</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Introduce advanced analytics and automation for better decision-making.</a:t>
            </a:r>
            <a:endParaRPr sz="24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chemeClr val="dk1"/>
              </a:buClr>
              <a:buSzPts val="1100"/>
              <a:buFont typeface="Arial"/>
              <a:buNone/>
            </a:pPr>
            <a:r>
              <a:rPr lang="en-IN" sz="2800" b="1" i="0" u="none" strike="noStrike" cap="none">
                <a:solidFill>
                  <a:schemeClr val="dk1"/>
                </a:solidFill>
                <a:latin typeface="Arial"/>
                <a:ea typeface="Arial"/>
                <a:cs typeface="Arial"/>
                <a:sym typeface="Arial"/>
              </a:rPr>
              <a:t>Key Insights</a:t>
            </a:r>
            <a:endParaRPr sz="2800" b="1" i="0" u="none" strike="noStrike" cap="none">
              <a:solidFill>
                <a:schemeClr val="dk1"/>
              </a:solidFill>
              <a:latin typeface="Arial"/>
              <a:ea typeface="Arial"/>
              <a:cs typeface="Arial"/>
              <a:sym typeface="Arial"/>
            </a:endParaRPr>
          </a:p>
          <a:p>
            <a:pPr marL="457200" marR="0" lvl="0" indent="-381000" algn="l" rtl="0">
              <a:lnSpc>
                <a:spcPct val="115000"/>
              </a:lnSpc>
              <a:spcBef>
                <a:spcPts val="120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More than </a:t>
            </a:r>
            <a:r>
              <a:rPr lang="en-IN" sz="2400" b="1" i="0" u="none" strike="noStrike" cap="none">
                <a:solidFill>
                  <a:schemeClr val="dk1"/>
                </a:solidFill>
                <a:latin typeface="Arial"/>
                <a:ea typeface="Arial"/>
                <a:cs typeface="Arial"/>
                <a:sym typeface="Arial"/>
              </a:rPr>
              <a:t>180K orders</a:t>
            </a:r>
            <a:r>
              <a:rPr lang="en-IN" sz="2400" b="0" i="0" u="none" strike="noStrike" cap="none">
                <a:solidFill>
                  <a:schemeClr val="dk1"/>
                </a:solidFill>
                <a:latin typeface="Arial"/>
                <a:ea typeface="Arial"/>
                <a:cs typeface="Arial"/>
                <a:sym typeface="Arial"/>
              </a:rPr>
              <a:t> were analyzed, indicating large-scale supply chain activity.</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1" i="0" u="none" strike="noStrike" cap="none">
                <a:solidFill>
                  <a:schemeClr val="dk1"/>
                </a:solidFill>
                <a:latin typeface="Arial"/>
                <a:ea typeface="Arial"/>
                <a:cs typeface="Arial"/>
                <a:sym typeface="Arial"/>
              </a:rPr>
              <a:t>Europe</a:t>
            </a:r>
            <a:r>
              <a:rPr lang="en-IN" sz="2400" b="0" i="0" u="none" strike="noStrike" cap="none">
                <a:solidFill>
                  <a:schemeClr val="dk1"/>
                </a:solidFill>
                <a:latin typeface="Arial"/>
                <a:ea typeface="Arial"/>
                <a:cs typeface="Arial"/>
                <a:sym typeface="Arial"/>
              </a:rPr>
              <a:t> emerged as a strong-performing market in terms of sales.</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1" i="0" u="none" strike="noStrike" cap="none">
                <a:solidFill>
                  <a:schemeClr val="dk1"/>
                </a:solidFill>
                <a:latin typeface="Arial"/>
                <a:ea typeface="Arial"/>
                <a:cs typeface="Arial"/>
                <a:sym typeface="Arial"/>
              </a:rPr>
              <a:t>Late deliveries</a:t>
            </a:r>
            <a:r>
              <a:rPr lang="en-IN" sz="2400" b="0" i="0" u="none" strike="noStrike" cap="none">
                <a:solidFill>
                  <a:schemeClr val="dk1"/>
                </a:solidFill>
                <a:latin typeface="Arial"/>
                <a:ea typeface="Arial"/>
                <a:cs typeface="Arial"/>
                <a:sym typeface="Arial"/>
              </a:rPr>
              <a:t> highlighted an important area for logistics improvement.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000"/>
              <a:buFont typeface="Arial"/>
              <a:buNone/>
            </a:pPr>
            <a:endParaRPr sz="2000" b="0" i="0" u="none" strike="noStrike" cap="non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5"/>
          <p:cNvSpPr txBox="1"/>
          <p:nvPr/>
        </p:nvSpPr>
        <p:spPr>
          <a:xfrm>
            <a:off x="0" y="0"/>
            <a:ext cx="121920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chemeClr val="dk1"/>
                </a:solidFill>
                <a:latin typeface="Twentieth Century"/>
                <a:ea typeface="Twentieth Century"/>
                <a:cs typeface="Twentieth Century"/>
                <a:sym typeface="Twentieth Century"/>
              </a:rPr>
              <a:t>CONCLUSION </a:t>
            </a:r>
            <a:endParaRPr sz="3000" b="1" i="0" u="none" strike="noStrike" cap="none">
              <a:solidFill>
                <a:schemeClr val="dk1"/>
              </a:solidFill>
              <a:latin typeface="Twentieth Century"/>
              <a:ea typeface="Twentieth Century"/>
              <a:cs typeface="Twentieth Century"/>
              <a:sym typeface="Twentieth Century"/>
            </a:endParaRPr>
          </a:p>
        </p:txBody>
      </p:sp>
      <p:sp>
        <p:nvSpPr>
          <p:cNvPr id="195" name="Google Shape;195;p25"/>
          <p:cNvSpPr txBox="1"/>
          <p:nvPr/>
        </p:nvSpPr>
        <p:spPr>
          <a:xfrm>
            <a:off x="-75" y="813275"/>
            <a:ext cx="121920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IN" sz="2400" b="0" i="0" u="none" strike="noStrike" cap="none">
                <a:solidFill>
                  <a:schemeClr val="dk1"/>
                </a:solidFill>
                <a:latin typeface="Twentieth Century"/>
                <a:ea typeface="Twentieth Century"/>
                <a:cs typeface="Twentieth Century"/>
                <a:sym typeface="Twentieth Century"/>
              </a:rPr>
              <a:t>The Supply Chain Visibility System with Optimization Analytics project successfully transformed the DataCo Supply Chain Dataset into an interactive Power BI-based Business Intelligence solution. </a:t>
            </a:r>
            <a:endParaRPr sz="2400" b="0" i="0" u="none" strike="noStrike" cap="none">
              <a:solidFill>
                <a:schemeClr val="dk1"/>
              </a:solidFill>
              <a:latin typeface="Twentieth Century"/>
              <a:ea typeface="Twentieth Century"/>
              <a:cs typeface="Twentieth Century"/>
              <a:sym typeface="Twentieth Century"/>
            </a:endParaRPr>
          </a:p>
        </p:txBody>
      </p:sp>
      <p:sp>
        <p:nvSpPr>
          <p:cNvPr id="196" name="Google Shape;196;p25"/>
          <p:cNvSpPr txBox="1"/>
          <p:nvPr/>
        </p:nvSpPr>
        <p:spPr>
          <a:xfrm>
            <a:off x="438900" y="1903450"/>
            <a:ext cx="11408400" cy="5099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100"/>
              <a:buFont typeface="Arial"/>
              <a:buNone/>
            </a:pPr>
            <a:r>
              <a:rPr lang="en-IN" sz="2800" b="1" i="0" u="none" strike="noStrike" cap="none">
                <a:solidFill>
                  <a:schemeClr val="dk1"/>
                </a:solidFill>
                <a:latin typeface="Arial"/>
                <a:ea typeface="Arial"/>
                <a:cs typeface="Arial"/>
                <a:sym typeface="Arial"/>
              </a:rPr>
              <a:t>Technical Skills</a:t>
            </a:r>
            <a:endParaRPr sz="2800" b="1" i="0" u="none" strike="noStrike" cap="none">
              <a:solidFill>
                <a:schemeClr val="dk1"/>
              </a:solidFill>
              <a:latin typeface="Arial"/>
              <a:ea typeface="Arial"/>
              <a:cs typeface="Arial"/>
              <a:sym typeface="Arial"/>
            </a:endParaRPr>
          </a:p>
          <a:p>
            <a:pPr marL="457200" marR="0" lvl="0" indent="-381000" algn="l" rtl="0">
              <a:lnSpc>
                <a:spcPct val="115000"/>
              </a:lnSpc>
              <a:spcBef>
                <a:spcPts val="120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Power BI &amp; Dashboard Development</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Power Query Data Preprocessing</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Data Visualization &amp; Business Analysis</a:t>
            </a:r>
            <a:endParaRPr sz="2400" b="0" i="0" u="none" strike="noStrike" cap="none">
              <a:solidFill>
                <a:schemeClr val="dk1"/>
              </a:solidFill>
              <a:latin typeface="Arial"/>
              <a:ea typeface="Arial"/>
              <a:cs typeface="Arial"/>
              <a:sym typeface="Arial"/>
            </a:endParaRPr>
          </a:p>
          <a:p>
            <a:pPr marL="0" marR="0" lvl="0" indent="0" algn="l" rtl="0">
              <a:lnSpc>
                <a:spcPct val="115000"/>
              </a:lnSpc>
              <a:spcBef>
                <a:spcPts val="1400"/>
              </a:spcBef>
              <a:spcAft>
                <a:spcPts val="0"/>
              </a:spcAft>
              <a:buClr>
                <a:schemeClr val="dk1"/>
              </a:buClr>
              <a:buSzPts val="1100"/>
              <a:buFont typeface="Arial"/>
              <a:buNone/>
            </a:pPr>
            <a:r>
              <a:rPr lang="en-IN" sz="2800" b="1" i="0" u="none" strike="noStrike" cap="none">
                <a:solidFill>
                  <a:schemeClr val="dk1"/>
                </a:solidFill>
                <a:latin typeface="Arial"/>
                <a:ea typeface="Arial"/>
                <a:cs typeface="Arial"/>
                <a:sym typeface="Arial"/>
              </a:rPr>
              <a:t>Soft Skills</a:t>
            </a:r>
            <a:endParaRPr sz="2800" b="1" i="0" u="none" strike="noStrike" cap="none">
              <a:solidFill>
                <a:schemeClr val="dk1"/>
              </a:solidFill>
              <a:latin typeface="Arial"/>
              <a:ea typeface="Arial"/>
              <a:cs typeface="Arial"/>
              <a:sym typeface="Arial"/>
            </a:endParaRPr>
          </a:p>
          <a:p>
            <a:pPr marL="457200" marR="0" lvl="0" indent="-381000" algn="l" rtl="0">
              <a:lnSpc>
                <a:spcPct val="115000"/>
              </a:lnSpc>
              <a:spcBef>
                <a:spcPts val="120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Problem Solving</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Communication</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Time Management</a:t>
            </a:r>
            <a:endParaRPr sz="2400" b="0" i="0" u="none" strike="noStrike" cap="none">
              <a:solidFill>
                <a:schemeClr val="dk1"/>
              </a:solidFill>
              <a:latin typeface="Arial"/>
              <a:ea typeface="Arial"/>
              <a:cs typeface="Arial"/>
              <a:sym typeface="Arial"/>
            </a:endParaRPr>
          </a:p>
          <a:p>
            <a:pPr marL="457200" marR="0" lvl="0" indent="-381000" algn="l" rtl="0">
              <a:lnSpc>
                <a:spcPct val="115000"/>
              </a:lnSpc>
              <a:spcBef>
                <a:spcPts val="0"/>
              </a:spcBef>
              <a:spcAft>
                <a:spcPts val="0"/>
              </a:spcAft>
              <a:buClr>
                <a:schemeClr val="dk1"/>
              </a:buClr>
              <a:buSzPts val="2400"/>
              <a:buFont typeface="Arial"/>
              <a:buChar char="●"/>
            </a:pPr>
            <a:r>
              <a:rPr lang="en-IN" sz="2400" b="0" i="0" u="none" strike="noStrike" cap="none">
                <a:solidFill>
                  <a:schemeClr val="dk1"/>
                </a:solidFill>
                <a:latin typeface="Arial"/>
                <a:ea typeface="Arial"/>
                <a:cs typeface="Arial"/>
                <a:sym typeface="Arial"/>
              </a:rPr>
              <a:t>Presentation</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000"/>
              <a:buFont typeface="Arial"/>
              <a:buNone/>
            </a:pPr>
            <a:endParaRPr sz="2000" b="0" i="0" u="none" strike="noStrike" cap="non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6"/>
          <p:cNvSpPr txBox="1"/>
          <p:nvPr/>
        </p:nvSpPr>
        <p:spPr>
          <a:xfrm>
            <a:off x="0" y="0"/>
            <a:ext cx="12192000" cy="646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chemeClr val="dk1"/>
                </a:solidFill>
                <a:latin typeface="Twentieth Century"/>
                <a:ea typeface="Twentieth Century"/>
                <a:cs typeface="Twentieth Century"/>
                <a:sym typeface="Twentieth Century"/>
              </a:rPr>
              <a:t>ACKNOWLEDGEMENTS &amp; REFERENCES </a:t>
            </a:r>
            <a:endParaRPr sz="3000" b="1" i="0" u="none" strike="noStrike" cap="none">
              <a:solidFill>
                <a:schemeClr val="dk1"/>
              </a:solidFill>
              <a:latin typeface="Twentieth Century"/>
              <a:ea typeface="Twentieth Century"/>
              <a:cs typeface="Twentieth Century"/>
              <a:sym typeface="Twentieth Century"/>
            </a:endParaRPr>
          </a:p>
        </p:txBody>
      </p:sp>
      <p:sp>
        <p:nvSpPr>
          <p:cNvPr id="202" name="Google Shape;202;p26"/>
          <p:cNvSpPr txBox="1"/>
          <p:nvPr/>
        </p:nvSpPr>
        <p:spPr>
          <a:xfrm>
            <a:off x="408075" y="646500"/>
            <a:ext cx="11085900" cy="1142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100"/>
              <a:buFont typeface="Arial"/>
              <a:buNone/>
            </a:pPr>
            <a:r>
              <a:rPr lang="en-IN" sz="2800" b="1" i="0" u="none" strike="noStrike" cap="none">
                <a:solidFill>
                  <a:schemeClr val="dk1"/>
                </a:solidFill>
                <a:latin typeface="Arial"/>
                <a:ea typeface="Arial"/>
                <a:cs typeface="Arial"/>
                <a:sym typeface="Arial"/>
              </a:rPr>
              <a:t>Acknowledgements</a:t>
            </a:r>
            <a:endParaRPr sz="2800" b="1" i="0" u="none" strike="noStrike" cap="none">
              <a:solidFill>
                <a:schemeClr val="dk1"/>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000"/>
              <a:buFont typeface="Arial"/>
              <a:buNone/>
            </a:pPr>
            <a:endParaRPr sz="2000" b="0" i="0" u="none" strike="noStrike" cap="none">
              <a:solidFill>
                <a:schemeClr val="dk1"/>
              </a:solidFill>
              <a:latin typeface="Twentieth Century"/>
              <a:ea typeface="Twentieth Century"/>
              <a:cs typeface="Twentieth Century"/>
              <a:sym typeface="Twentieth Century"/>
            </a:endParaRPr>
          </a:p>
        </p:txBody>
      </p:sp>
      <p:sp>
        <p:nvSpPr>
          <p:cNvPr id="203" name="Google Shape;203;p26"/>
          <p:cNvSpPr txBox="1"/>
          <p:nvPr/>
        </p:nvSpPr>
        <p:spPr>
          <a:xfrm>
            <a:off x="1220800" y="1615175"/>
            <a:ext cx="348000" cy="46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dk1"/>
              </a:solidFill>
              <a:latin typeface="Twentieth Century"/>
              <a:ea typeface="Twentieth Century"/>
              <a:cs typeface="Twentieth Century"/>
              <a:sym typeface="Twentieth Century"/>
            </a:endParaRPr>
          </a:p>
        </p:txBody>
      </p:sp>
      <p:sp>
        <p:nvSpPr>
          <p:cNvPr id="204" name="Google Shape;204;p26"/>
          <p:cNvSpPr txBox="1"/>
          <p:nvPr/>
        </p:nvSpPr>
        <p:spPr>
          <a:xfrm>
            <a:off x="487050" y="1310700"/>
            <a:ext cx="11085900" cy="4940700"/>
          </a:xfrm>
          <a:prstGeom prst="rect">
            <a:avLst/>
          </a:prstGeom>
          <a:noFill/>
          <a:ln>
            <a:noFill/>
          </a:ln>
        </p:spPr>
        <p:txBody>
          <a:bodyPr spcFirstLastPara="1" wrap="square" lIns="91425" tIns="91425" rIns="91425" bIns="91425" anchor="t" anchorCtr="0">
            <a:spAutoFit/>
          </a:bodyPr>
          <a:lstStyle/>
          <a:p>
            <a:pPr marL="0" lvl="0" indent="0" algn="l" rtl="0">
              <a:lnSpc>
                <a:spcPct val="115833"/>
              </a:lnSpc>
              <a:spcBef>
                <a:spcPts val="0"/>
              </a:spcBef>
              <a:spcAft>
                <a:spcPts val="0"/>
              </a:spcAft>
              <a:buNone/>
            </a:pPr>
            <a:r>
              <a:rPr lang="en-IN" sz="2200">
                <a:solidFill>
                  <a:schemeClr val="dk1"/>
                </a:solidFill>
                <a:latin typeface="Calibri"/>
                <a:ea typeface="Calibri"/>
                <a:cs typeface="Calibri"/>
                <a:sym typeface="Calibri"/>
              </a:rPr>
              <a:t>We would like to express our sincere gratitude to the Infosys Springboard Team for organizing this highly enriching virtual internship program and for providing a structured, industry-aligned learning platform. The well-designed modules, milestone-based framework, and practical orientation of the internship enabled us to gain meaningful exposure to real-world business intelligence applications.real-world business intelligence applications.</a:t>
            </a:r>
            <a:endParaRPr sz="2200">
              <a:solidFill>
                <a:schemeClr val="dk1"/>
              </a:solidFill>
              <a:latin typeface="Calibri"/>
              <a:ea typeface="Calibri"/>
              <a:cs typeface="Calibri"/>
              <a:sym typeface="Calibri"/>
            </a:endParaRPr>
          </a:p>
          <a:p>
            <a:pPr marL="0" lvl="0" indent="0" algn="l" rtl="0">
              <a:lnSpc>
                <a:spcPct val="115833"/>
              </a:lnSpc>
              <a:spcBef>
                <a:spcPts val="800"/>
              </a:spcBef>
              <a:spcAft>
                <a:spcPts val="800"/>
              </a:spcAft>
              <a:buClr>
                <a:schemeClr val="dk1"/>
              </a:buClr>
              <a:buSzPts val="1100"/>
              <a:buFont typeface="Arial"/>
              <a:buNone/>
            </a:pPr>
            <a:r>
              <a:rPr lang="en-IN" sz="2200">
                <a:solidFill>
                  <a:schemeClr val="dk1"/>
                </a:solidFill>
                <a:latin typeface="Calibri"/>
                <a:ea typeface="Calibri"/>
                <a:cs typeface="Calibri"/>
                <a:sym typeface="Calibri"/>
              </a:rPr>
              <a:t>We extend our heartfelt appreciation to our mentor, Ms. Nityasree, for her consistent guidance, valuable feedback, and continuous encouragement throughout the project lifecycle. Her insights and structured direction played a significant role in shaping the analytical depth and professional quality of this project. We would also like to acknowledge our team members for their strong collaboration, accountability, and shared commitment toward achieving project objectives. The coordinated distribution of responsibilities, open communication, and collective problem-solving approach significantly contributed to the successful execution of this project. </a:t>
            </a:r>
            <a:endParaRPr sz="2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7"/>
          <p:cNvSpPr txBox="1"/>
          <p:nvPr/>
        </p:nvSpPr>
        <p:spPr>
          <a:xfrm>
            <a:off x="487325" y="891175"/>
            <a:ext cx="10892100" cy="4909800"/>
          </a:xfrm>
          <a:prstGeom prst="rect">
            <a:avLst/>
          </a:prstGeom>
          <a:noFill/>
          <a:ln>
            <a:noFill/>
          </a:ln>
        </p:spPr>
        <p:txBody>
          <a:bodyPr spcFirstLastPara="1" wrap="square" lIns="91425" tIns="91425" rIns="91425" bIns="91425" anchor="t" anchorCtr="0">
            <a:spAutoFit/>
          </a:bodyPr>
          <a:lstStyle/>
          <a:p>
            <a:pPr marL="0" lvl="0" indent="0" algn="l" rtl="0">
              <a:lnSpc>
                <a:spcPct val="115833"/>
              </a:lnSpc>
              <a:spcBef>
                <a:spcPts val="0"/>
              </a:spcBef>
              <a:spcAft>
                <a:spcPts val="0"/>
              </a:spcAft>
              <a:buClr>
                <a:schemeClr val="dk1"/>
              </a:buClr>
              <a:buSzPts val="1100"/>
              <a:buFont typeface="Arial"/>
              <a:buNone/>
            </a:pPr>
            <a:r>
              <a:rPr lang="en-IN" sz="2200">
                <a:solidFill>
                  <a:schemeClr val="dk1"/>
                </a:solidFill>
                <a:latin typeface="Calibri"/>
                <a:ea typeface="Calibri"/>
                <a:cs typeface="Calibri"/>
                <a:sym typeface="Calibri"/>
              </a:rPr>
              <a:t> In addition, we extend our appreciation to the creators and maintainers of Microsoft Power BI documentation and community resources, which served as essential references during dashboard development and KPI implementation. We are also grateful to Kaggle for providing access to publicly available datasets that facilitated practical, hands-on analytical experience. The structured learning resources and practical exposure provided through this internship have significantly strengthened our analytical thinking, technical proficiency, and business interpretation skills. This experience has enhanced our ability to approach data with a strategic mindset, collaborate effectively within a team environment, and execute projects with professional discipline. Overall, this internship has been a meaningful milestone in our academic and professional journey, reinforcing the value of data-driven decision-making and structured analytical execution in modern business environments.</a:t>
            </a:r>
            <a:endParaRPr sz="2200" b="1">
              <a:solidFill>
                <a:schemeClr val="dk1"/>
              </a:solidFill>
              <a:latin typeface="Calibri"/>
              <a:ea typeface="Calibri"/>
              <a:cs typeface="Calibri"/>
              <a:sym typeface="Calibri"/>
            </a:endParaRPr>
          </a:p>
          <a:p>
            <a:pPr marL="0" lvl="0" indent="0" algn="l" rtl="0">
              <a:spcBef>
                <a:spcPts val="800"/>
              </a:spcBef>
              <a:spcAft>
                <a:spcPts val="0"/>
              </a:spcAft>
              <a:buNone/>
            </a:pPr>
            <a:endParaRPr sz="20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p:nvPr/>
        </p:nvSpPr>
        <p:spPr>
          <a:xfrm>
            <a:off x="693875" y="500250"/>
            <a:ext cx="9620700" cy="315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IN" sz="2800" b="1">
                <a:solidFill>
                  <a:schemeClr val="dk1"/>
                </a:solidFill>
              </a:rPr>
              <a:t>References :</a:t>
            </a:r>
            <a:endParaRPr sz="2800" b="1">
              <a:solidFill>
                <a:schemeClr val="dk1"/>
              </a:solidFill>
            </a:endParaRPr>
          </a:p>
          <a:p>
            <a:pPr marL="0" lvl="0" indent="0" algn="l" rtl="0">
              <a:lnSpc>
                <a:spcPct val="115000"/>
              </a:lnSpc>
              <a:spcBef>
                <a:spcPts val="1400"/>
              </a:spcBef>
              <a:spcAft>
                <a:spcPts val="0"/>
              </a:spcAft>
              <a:buNone/>
            </a:pPr>
            <a:endParaRPr sz="2800" b="1">
              <a:solidFill>
                <a:schemeClr val="dk1"/>
              </a:solidFill>
            </a:endParaRPr>
          </a:p>
          <a:p>
            <a:pPr marL="457200" lvl="0" indent="-381000" algn="l" rtl="0">
              <a:lnSpc>
                <a:spcPct val="115000"/>
              </a:lnSpc>
              <a:spcBef>
                <a:spcPts val="1200"/>
              </a:spcBef>
              <a:spcAft>
                <a:spcPts val="0"/>
              </a:spcAft>
              <a:buClr>
                <a:schemeClr val="dk1"/>
              </a:buClr>
              <a:buSzPts val="2400"/>
              <a:buChar char="●"/>
            </a:pPr>
            <a:r>
              <a:rPr lang="en-IN" sz="2400">
                <a:solidFill>
                  <a:schemeClr val="dk1"/>
                </a:solidFill>
              </a:rPr>
              <a:t>DataCo Supply Chain Dataset</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IN" sz="2400">
                <a:solidFill>
                  <a:schemeClr val="dk1"/>
                </a:solidFill>
              </a:rPr>
              <a:t>Microsoft Power BI Documentation</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IN" sz="2400">
                <a:solidFill>
                  <a:schemeClr val="dk1"/>
                </a:solidFill>
              </a:rPr>
              <a:t>Microsoft Power Query Documentation</a:t>
            </a:r>
            <a:endParaRPr sz="2400">
              <a:solidFill>
                <a:schemeClr val="dk1"/>
              </a:solidFill>
            </a:endParaRPr>
          </a:p>
          <a:p>
            <a:pPr marL="457200" lvl="0" indent="-381000" algn="l" rtl="0">
              <a:lnSpc>
                <a:spcPct val="115000"/>
              </a:lnSpc>
              <a:spcBef>
                <a:spcPts val="0"/>
              </a:spcBef>
              <a:spcAft>
                <a:spcPts val="0"/>
              </a:spcAft>
              <a:buClr>
                <a:schemeClr val="dk1"/>
              </a:buClr>
              <a:buSzPts val="2400"/>
              <a:buChar char="●"/>
            </a:pPr>
            <a:r>
              <a:rPr lang="en-IN" sz="2400">
                <a:solidFill>
                  <a:schemeClr val="dk1"/>
                </a:solidFill>
              </a:rPr>
              <a:t>Infosys Springboard Learning Materials</a:t>
            </a:r>
            <a:endParaRPr sz="24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29"/>
          <p:cNvPicPr preferRelativeResize="0"/>
          <p:nvPr/>
        </p:nvPicPr>
        <p:blipFill rotWithShape="1">
          <a:blip r:embed="rId3">
            <a:alphaModFix/>
          </a:blip>
          <a:srcRect/>
          <a:stretch/>
        </p:blipFill>
        <p:spPr>
          <a:xfrm>
            <a:off x="0" y="0"/>
            <a:ext cx="12191999" cy="6858000"/>
          </a:xfrm>
          <a:prstGeom prst="rect">
            <a:avLst/>
          </a:prstGeom>
          <a:noFill/>
          <a:ln>
            <a:noFill/>
          </a:ln>
        </p:spPr>
      </p:pic>
    </p:spTree>
  </p:cSld>
  <p:clrMapOvr>
    <a:masterClrMapping/>
  </p:clrMapOvr>
</p:sld>
</file>

<file path=ppt/theme/theme1.xml><?xml version="1.0" encoding="utf-8"?>
<a:theme xmlns:a="http://schemas.openxmlformats.org/drawingml/2006/main" name="Droplet">
  <a:themeElements>
    <a:clrScheme name="Droplet">
      <a:dk1>
        <a:srgbClr val="000000"/>
      </a:dk1>
      <a:lt1>
        <a:srgbClr val="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829</Words>
  <Application>Microsoft Office PowerPoint</Application>
  <PresentationFormat>Widescreen</PresentationFormat>
  <Paragraphs>69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Twentieth Century</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Devika Challagundla</dc:creator>
  <cp:lastModifiedBy>Devika Challagundla</cp:lastModifiedBy>
  <cp:revision>2</cp:revision>
  <dcterms:modified xsi:type="dcterms:W3CDTF">2026-09-02T12:50:29Z</dcterms:modified>
</cp:coreProperties>
</file>