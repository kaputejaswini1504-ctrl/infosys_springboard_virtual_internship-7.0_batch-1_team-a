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7"/>
            <a:ext cx="16773843" cy="11188206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6" y="1270000"/>
            <a:ext cx="16840170" cy="1124371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55;p19"/>
          <p:cNvSpPr txBox="1"/>
          <p:nvPr/>
        </p:nvSpPr>
        <p:spPr>
          <a:xfrm>
            <a:off x="1348201" y="9811356"/>
            <a:ext cx="24384004" cy="104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Internship:</a:t>
            </a:r>
            <a:r>
              <a:rPr b="0"/>
              <a:t> Infosys Springboard Virtual Internship 7.0 </a:t>
            </a:r>
          </a:p>
        </p:txBody>
      </p:sp>
      <p:sp>
        <p:nvSpPr>
          <p:cNvPr id="172" name="Google Shape;156;p19"/>
          <p:cNvSpPr txBox="1"/>
          <p:nvPr/>
        </p:nvSpPr>
        <p:spPr>
          <a:xfrm>
            <a:off x="161526" y="1147274"/>
            <a:ext cx="24060948" cy="2729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defRPr b="1" sz="6600">
                <a:latin typeface="Twentieth Century"/>
                <a:ea typeface="Twentieth Century"/>
                <a:cs typeface="Twentieth Century"/>
                <a:sym typeface="Twentieth Century"/>
              </a:defRPr>
            </a:pPr>
            <a:r>
              <a:t>Supply Chain Visibility System with Optimization Analytics </a:t>
            </a:r>
          </a:p>
          <a:p>
            <a:pPr>
              <a:defRPr b="1" sz="5800">
                <a:latin typeface="Twentieth Century"/>
                <a:ea typeface="Twentieth Century"/>
                <a:cs typeface="Twentieth Century"/>
                <a:sym typeface="Twentieth Century"/>
              </a:defRPr>
            </a:pPr>
            <a:r>
              <a:t>                                              Group 1</a:t>
            </a:r>
          </a:p>
        </p:txBody>
      </p:sp>
      <p:sp>
        <p:nvSpPr>
          <p:cNvPr id="173" name="Google Shape;157;p19"/>
          <p:cNvSpPr txBox="1"/>
          <p:nvPr/>
        </p:nvSpPr>
        <p:spPr>
          <a:xfrm>
            <a:off x="1514079" y="11013906"/>
            <a:ext cx="24384004" cy="104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Mentor:</a:t>
            </a:r>
            <a:r>
              <a:rPr b="0"/>
              <a:t> Ms. Nityasree  </a:t>
            </a:r>
          </a:p>
        </p:txBody>
      </p:sp>
      <p:sp>
        <p:nvSpPr>
          <p:cNvPr id="174" name="Google Shape;158;p19"/>
          <p:cNvSpPr txBox="1"/>
          <p:nvPr/>
        </p:nvSpPr>
        <p:spPr>
          <a:xfrm>
            <a:off x="2059105" y="4676066"/>
            <a:ext cx="24384004" cy="103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lnSpc>
                <a:spcPct val="115000"/>
              </a:lnSpc>
              <a:spcBef>
                <a:spcPts val="2400"/>
              </a:spcBef>
              <a:defRPr i="1" sz="4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Interactive Supply Chain Analysis and Business Intelligence using Power BI</a:t>
            </a:r>
          </a:p>
        </p:txBody>
      </p:sp>
      <p:sp>
        <p:nvSpPr>
          <p:cNvPr id="175" name="Google Shape;159;p19"/>
          <p:cNvSpPr txBox="1"/>
          <p:nvPr/>
        </p:nvSpPr>
        <p:spPr>
          <a:xfrm>
            <a:off x="4004757" y="6335872"/>
            <a:ext cx="24384004" cy="104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       Team Member:</a:t>
            </a:r>
            <a:r>
              <a:rPr b="0"/>
              <a:t>Jaya Deepika Reddy Challa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64;p20"/>
          <p:cNvSpPr txBox="1"/>
          <p:nvPr/>
        </p:nvSpPr>
        <p:spPr>
          <a:xfrm>
            <a:off x="401984" y="1372696"/>
            <a:ext cx="22816804" cy="12382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3800">
                <a:latin typeface="Arial"/>
                <a:ea typeface="Arial"/>
                <a:cs typeface="Arial"/>
                <a:sym typeface="Arial"/>
              </a:defRPr>
            </a:pPr>
            <a:r>
              <a:t>Project Objective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To analyze supply chain performance using real-world supply chain data.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To clean and transform raw data into an analysis-ready format.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To analyze sales, products, customers, delivery, shipping, orders, discounts, and profitability.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To develop interactive dashboards for data-driven decision-making.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800">
                <a:latin typeface="Arial"/>
                <a:ea typeface="Arial"/>
                <a:cs typeface="Arial"/>
                <a:sym typeface="Arial"/>
              </a:defRPr>
            </a:pPr>
            <a:r>
              <a:t>Project Modules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Data Collection &amp; Understanding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Data Preprocessing &amp; Cleaning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Power BI Dashboard Development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Business Analysis &amp; Insights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Recommendations &amp; Reporting</a:t>
            </a:r>
          </a:p>
        </p:txBody>
      </p:sp>
      <p:sp>
        <p:nvSpPr>
          <p:cNvPr id="178" name="Google Shape;165;p20"/>
          <p:cNvSpPr txBox="1"/>
          <p:nvPr/>
        </p:nvSpPr>
        <p:spPr>
          <a:xfrm>
            <a:off x="545025" y="70852"/>
            <a:ext cx="24384004" cy="128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PROJECT OBJECTIVE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70;p21"/>
          <p:cNvSpPr txBox="1"/>
          <p:nvPr/>
        </p:nvSpPr>
        <p:spPr>
          <a:xfrm>
            <a:off x="-1" y="132649"/>
            <a:ext cx="24384004" cy="1203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55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PROJECT EXECUTION MILESTONES </a:t>
            </a:r>
          </a:p>
        </p:txBody>
      </p:sp>
      <p:sp>
        <p:nvSpPr>
          <p:cNvPr id="181" name="Google Shape;171;p21"/>
          <p:cNvSpPr txBox="1"/>
          <p:nvPr/>
        </p:nvSpPr>
        <p:spPr>
          <a:xfrm>
            <a:off x="-1" y="1430794"/>
            <a:ext cx="24384004" cy="11899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Milestone 1 – Data Preprocessing &amp; Cleaning</a:t>
            </a:r>
          </a:p>
          <a:p>
            <a:pPr marL="800100" indent="-6858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600"/>
              <a:buFont typeface="Arial"/>
              <a:buChar char="●"/>
              <a:defRPr sz="3600"/>
            </a:pPr>
            <a:r>
              <a:t>Collected and studied the DataCo Supply Chain Dataset, performed data preprocessing and cleaning using Power Query Editor, removed unnecessary data, corrected data types, handled duplicates and prepared the final analysis-ready dataset.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Milestone 2 – Initial Dashboard Development</a:t>
            </a:r>
          </a:p>
          <a:p>
            <a:pPr marL="800100" indent="-6858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600"/>
              <a:buFont typeface="Arial"/>
              <a:buChar char="●"/>
              <a:defRPr sz="3600"/>
            </a:pPr>
            <a:r>
              <a:t>Developed the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Supply Chain Performance Dashboard</a:t>
            </a:r>
            <a:r>
              <a:t> and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Product Performance &amp; Pricing Dashboard</a:t>
            </a:r>
            <a:r>
              <a:t> to analyze overall supply chain performance, products, categories, departments, pricing and sales.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Milestone 3 – Detailed Business Analysis</a:t>
            </a:r>
          </a:p>
          <a:p>
            <a:pPr marL="800100" indent="-6858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600"/>
              <a:buFont typeface="Arial"/>
              <a:buChar char="●"/>
              <a:defRPr sz="3600"/>
            </a:pPr>
            <a:r>
              <a:t>Developed the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Customer &amp; Geographic Analysis Dashboard</a:t>
            </a:r>
            <a:r>
              <a:t>,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Delivery &amp; Shipping Performance Dashboard</a:t>
            </a:r>
            <a:r>
              <a:t>, and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Regional &amp; Market Performance Dashboard</a:t>
            </a:r>
            <a:r>
              <a:t> to analyze customers, geography, delivery, shipping, markets and regional performance.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Milestone 4 – Final Dashboard Development</a:t>
            </a:r>
          </a:p>
          <a:p>
            <a:pPr marL="800100" indent="-6858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600"/>
              <a:buFont typeface="Arial"/>
              <a:buChar char="●"/>
              <a:defRPr sz="3600"/>
            </a:pPr>
            <a:r>
              <a:t>Developed the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Order &amp; Discount Performance Dashboard</a:t>
            </a:r>
            <a:r>
              <a:t> and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Profitability &amp; Order Insights Dashboard</a:t>
            </a:r>
            <a:r>
              <a:t>, completing the seven-dashboard analysis covering orders, discounts, departments, shipping modes, profitability and order status.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76;p22"/>
          <p:cNvSpPr txBox="1"/>
          <p:nvPr/>
        </p:nvSpPr>
        <p:spPr>
          <a:xfrm>
            <a:off x="-2" y="94549"/>
            <a:ext cx="24445204" cy="128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CHALLENGES &amp; RESOLUTIONS </a:t>
            </a:r>
          </a:p>
        </p:txBody>
      </p:sp>
      <p:sp>
        <p:nvSpPr>
          <p:cNvPr id="184" name="Google Shape;177;p22"/>
          <p:cNvSpPr txBox="1"/>
          <p:nvPr/>
        </p:nvSpPr>
        <p:spPr>
          <a:xfrm>
            <a:off x="30599" y="1501922"/>
            <a:ext cx="24384004" cy="1218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4200">
                <a:latin typeface="Arial"/>
                <a:ea typeface="Arial"/>
                <a:cs typeface="Arial"/>
                <a:sym typeface="Arial"/>
              </a:defRPr>
            </a:pPr>
            <a:r>
              <a:t>Challenges</a:t>
            </a:r>
          </a:p>
          <a:p>
            <a:pPr marL="825500" indent="-7366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The raw dataset contained a large number of columns and records, making it difficult to identify the required information.</a:t>
            </a:r>
          </a:p>
          <a:p>
            <a:pPr marL="825500" indent="-736600">
              <a:lnSpc>
                <a:spcPct val="115000"/>
              </a:lnSpc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Some columns required data-type corrections, transformations, and cleaning before analysis.</a:t>
            </a:r>
          </a:p>
          <a:p>
            <a:pPr marL="825500" indent="-736600">
              <a:lnSpc>
                <a:spcPct val="115000"/>
              </a:lnSpc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Different business aspects had to be represented using suitable and non-repetitive Power BI visualizations.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4200">
                <a:latin typeface="Arial"/>
                <a:ea typeface="Arial"/>
                <a:cs typeface="Arial"/>
                <a:sym typeface="Arial"/>
              </a:defRPr>
            </a:pPr>
            <a:r>
              <a:t>Resolutions</a:t>
            </a:r>
          </a:p>
          <a:p>
            <a:pPr marL="825500" indent="-7366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Studied the dataset structure and identified relevant columns based on the dashboard requirements.</a:t>
            </a:r>
          </a:p>
          <a:p>
            <a:pPr marL="825500" indent="-736600">
              <a:lnSpc>
                <a:spcPct val="115000"/>
              </a:lnSpc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Used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Power Query Editor</a:t>
            </a:r>
            <a:r>
              <a:t> to clean, transform, rename, and prepare the dataset.</a:t>
            </a:r>
          </a:p>
          <a:p>
            <a:pPr marL="825500" indent="-736600">
              <a:lnSpc>
                <a:spcPct val="115000"/>
              </a:lnSpc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Selected appropriate Power BI visuals for each analysis and divided the project into seven focused dashboards.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2;p23"/>
          <p:cNvSpPr txBox="1"/>
          <p:nvPr/>
        </p:nvSpPr>
        <p:spPr>
          <a:xfrm>
            <a:off x="260663" y="507830"/>
            <a:ext cx="24384004" cy="128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FUTURE ENHANCEMENTS &amp; KEY INSIGHTS </a:t>
            </a:r>
          </a:p>
        </p:txBody>
      </p:sp>
      <p:sp>
        <p:nvSpPr>
          <p:cNvPr id="187" name="Google Shape;183;p23"/>
          <p:cNvSpPr txBox="1"/>
          <p:nvPr/>
        </p:nvSpPr>
        <p:spPr>
          <a:xfrm>
            <a:off x="347698" y="2153977"/>
            <a:ext cx="23688604" cy="1121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4600">
                <a:latin typeface="Arial"/>
                <a:ea typeface="Arial"/>
                <a:cs typeface="Arial"/>
                <a:sym typeface="Arial"/>
              </a:defRPr>
            </a:pPr>
            <a:r>
              <a:t>Future Enhancements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Integrate real-time supply chain data for continuous monitoring.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Add sales and demand forecasting capabilities.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Develop predictive analysis for potential late deliveries.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Introduce advanced analytics and automation for better decision-making.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4600">
                <a:latin typeface="Arial"/>
                <a:ea typeface="Arial"/>
                <a:cs typeface="Arial"/>
                <a:sym typeface="Arial"/>
              </a:defRPr>
            </a:pPr>
            <a:r>
              <a:t>Key Insights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More than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180K orders</a:t>
            </a:r>
            <a:r>
              <a:t> were analyzed, indicating large-scale supply chain activity.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b="1" sz="4600">
                <a:latin typeface="Arial"/>
                <a:ea typeface="Arial"/>
                <a:cs typeface="Arial"/>
                <a:sym typeface="Arial"/>
              </a:defRPr>
            </a:pPr>
            <a:r>
              <a:t>Europe</a:t>
            </a:r>
            <a:r>
              <a:rPr b="0"/>
              <a:t> emerged as a strong-performing market in terms of sales.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b="1" sz="4600">
                <a:latin typeface="Arial"/>
                <a:ea typeface="Arial"/>
                <a:cs typeface="Arial"/>
                <a:sym typeface="Arial"/>
              </a:defRPr>
            </a:pPr>
            <a:r>
              <a:t>Late deliveries</a:t>
            </a:r>
            <a:r>
              <a:rPr b="0"/>
              <a:t> highlighted an important area for logistics improvement.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8;p24"/>
          <p:cNvSpPr txBox="1"/>
          <p:nvPr/>
        </p:nvSpPr>
        <p:spPr>
          <a:xfrm>
            <a:off x="189573" y="355214"/>
            <a:ext cx="24384004" cy="128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CONCLUSION </a:t>
            </a:r>
          </a:p>
        </p:txBody>
      </p:sp>
      <p:sp>
        <p:nvSpPr>
          <p:cNvPr id="190" name="Google Shape;189;p24"/>
          <p:cNvSpPr txBox="1"/>
          <p:nvPr/>
        </p:nvSpPr>
        <p:spPr>
          <a:xfrm>
            <a:off x="-1" y="1574616"/>
            <a:ext cx="24384004" cy="1620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sz="43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The Supply Chain Visibility System with Optimization Analytics project successfully transformed the DataCo Supply Chain Dataset into an interactive Power BI-based Business Intelligence solution. </a:t>
            </a:r>
          </a:p>
        </p:txBody>
      </p:sp>
      <p:sp>
        <p:nvSpPr>
          <p:cNvPr id="191" name="Google Shape;190;p24"/>
          <p:cNvSpPr txBox="1"/>
          <p:nvPr/>
        </p:nvSpPr>
        <p:spPr>
          <a:xfrm>
            <a:off x="451843" y="3456618"/>
            <a:ext cx="22816804" cy="9800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3700">
                <a:latin typeface="Arial"/>
                <a:ea typeface="Arial"/>
                <a:cs typeface="Arial"/>
                <a:sym typeface="Arial"/>
              </a:defRPr>
            </a:pPr>
            <a:r>
              <a:t>Technical Skills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Power BI &amp; Dashboard Development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Power Query Data Preprocessing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Data Visualization &amp; Business Analysis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700">
                <a:latin typeface="Arial"/>
                <a:ea typeface="Arial"/>
                <a:cs typeface="Arial"/>
                <a:sym typeface="Arial"/>
              </a:defRPr>
            </a:pPr>
            <a:r>
              <a:t>Soft Skills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Problem Solving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Communication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Time Management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5;p25"/>
          <p:cNvSpPr txBox="1"/>
          <p:nvPr/>
        </p:nvSpPr>
        <p:spPr>
          <a:xfrm>
            <a:off x="284360" y="423659"/>
            <a:ext cx="24384004" cy="128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ACKNOWLEDGEMENTS &amp; REFERENCES </a:t>
            </a:r>
          </a:p>
        </p:txBody>
      </p:sp>
      <p:sp>
        <p:nvSpPr>
          <p:cNvPr id="194" name="Google Shape;196;p25"/>
          <p:cNvSpPr txBox="1"/>
          <p:nvPr/>
        </p:nvSpPr>
        <p:spPr>
          <a:xfrm>
            <a:off x="395196" y="1924855"/>
            <a:ext cx="22171802" cy="11475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Acknowledgements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800"/>
              <a:buFont typeface="Arial"/>
              <a:buChar char="●"/>
            </a:pPr>
            <a:r>
              <a:t>Infosys Springboard Virtual Internship 7.0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Ms. Nityasree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Jaya Deepika Reddy Challa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References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800"/>
              <a:buFont typeface="Arial"/>
              <a:buChar char="●"/>
            </a:pPr>
            <a:r>
              <a:t>DataCo Supply Chain Dataset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Microsoft Power BI Documentation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Microsoft Power Query Documentation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Infosys Springboard Learning Materials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206;p26" descr="Google Shape;206;p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5026" y="1518291"/>
            <a:ext cx="22470260" cy="11460857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Dashboard-1 : Supply Chain Performance Dashboard"/>
          <p:cNvSpPr txBox="1"/>
          <p:nvPr/>
        </p:nvSpPr>
        <p:spPr>
          <a:xfrm>
            <a:off x="698214" y="440204"/>
            <a:ext cx="17774278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b="1" sz="55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Dashboard-1 : Supply Chain Performance Dashboard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Dashboard-2 : Product Performance &amp; Pricing Dashboard"/>
          <p:cNvSpPr txBox="1"/>
          <p:nvPr/>
        </p:nvSpPr>
        <p:spPr>
          <a:xfrm>
            <a:off x="691007" y="440204"/>
            <a:ext cx="19210500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b="1" sz="55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Dashboard-2 : Product Performance &amp; Pricing Dashboard</a:t>
            </a:r>
          </a:p>
        </p:txBody>
      </p:sp>
      <p:pic>
        <p:nvPicPr>
          <p:cNvPr id="200" name="Google Shape;212;p27" descr="Google Shape;212;p2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0458" y="1422881"/>
            <a:ext cx="22413504" cy="115321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ashboard-3 : Customer &amp; Geographic Analysis Dashboard"/>
          <p:cNvSpPr txBox="1"/>
          <p:nvPr/>
        </p:nvSpPr>
        <p:spPr>
          <a:xfrm>
            <a:off x="524509" y="440204"/>
            <a:ext cx="19922642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b="1" sz="55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Dashboard-3 : Customer &amp; Geographic Analysis Dashboard</a:t>
            </a:r>
          </a:p>
        </p:txBody>
      </p:sp>
      <p:sp>
        <p:nvSpPr>
          <p:cNvPr id="203" name="Google Shape;217;p28"/>
          <p:cNvSpPr txBox="1"/>
          <p:nvPr/>
        </p:nvSpPr>
        <p:spPr>
          <a:xfrm>
            <a:off x="4840069" y="2582950"/>
            <a:ext cx="12192001" cy="576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b="1" sz="26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Dashboard-3 : Customer &amp; Geographic Analysis Dashboard</a:t>
            </a:r>
          </a:p>
        </p:txBody>
      </p:sp>
      <p:pic>
        <p:nvPicPr>
          <p:cNvPr id="204" name="Google Shape;218;p28" descr="Google Shape;218;p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1330" y="1566222"/>
            <a:ext cx="22494620" cy="115738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Dashboard-4 : Delivery Status by Shipping Mode"/>
          <p:cNvSpPr txBox="1"/>
          <p:nvPr/>
        </p:nvSpPr>
        <p:spPr>
          <a:xfrm>
            <a:off x="791867" y="487598"/>
            <a:ext cx="1625995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b="1" sz="55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Dashboard-4 : Delivery Status by Shipping Mode</a:t>
            </a:r>
          </a:p>
        </p:txBody>
      </p:sp>
      <p:pic>
        <p:nvPicPr>
          <p:cNvPr id="207" name="Google Shape;224;p29" descr="Google Shape;224;p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2548" y="1624483"/>
            <a:ext cx="22343065" cy="114959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Dashboard-5 : Regional &amp; Market Performance Dashboard"/>
          <p:cNvSpPr txBox="1"/>
          <p:nvPr/>
        </p:nvSpPr>
        <p:spPr>
          <a:xfrm>
            <a:off x="617330" y="440204"/>
            <a:ext cx="19405247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b="1" sz="55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Dashboard-5 : Regional &amp; Market Performance Dashboard</a:t>
            </a:r>
          </a:p>
        </p:txBody>
      </p:sp>
      <p:pic>
        <p:nvPicPr>
          <p:cNvPr id="210" name="Google Shape;230;p30" descr="Google Shape;230;p3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1088" y="1435068"/>
            <a:ext cx="22539853" cy="114617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Dashboard-6 : Order &amp; Discount Performance Dashboard"/>
          <p:cNvSpPr txBox="1"/>
          <p:nvPr/>
        </p:nvSpPr>
        <p:spPr>
          <a:xfrm>
            <a:off x="393707" y="392811"/>
            <a:ext cx="19094196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b="1" sz="55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Dashboard-6 : Order &amp; Discount Performance Dashboard</a:t>
            </a:r>
          </a:p>
        </p:txBody>
      </p:sp>
      <p:pic>
        <p:nvPicPr>
          <p:cNvPr id="213" name="Google Shape;236;p31" descr="Google Shape;236;p3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6542" y="1321898"/>
            <a:ext cx="22542589" cy="115985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Dashboard-7 : Profitability &amp; Order Insights Dashboard"/>
          <p:cNvSpPr txBox="1"/>
          <p:nvPr/>
        </p:nvSpPr>
        <p:spPr>
          <a:xfrm>
            <a:off x="660331" y="321535"/>
            <a:ext cx="1835545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b="1" sz="55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Dashboard-7 : Profitability &amp; Order Insights Dashboard</a:t>
            </a:r>
          </a:p>
        </p:txBody>
      </p:sp>
      <p:pic>
        <p:nvPicPr>
          <p:cNvPr id="216" name="Google Shape;242;p32" descr="Google Shape;242;p3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3510" y="1343297"/>
            <a:ext cx="22324537" cy="114863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JAYA DEEPIKA REDDY CHALLA   |   TEAM A  |   INFOSYS INTERNSHIP 7.0"/>
          <p:cNvSpPr txBox="1"/>
          <p:nvPr/>
        </p:nvSpPr>
        <p:spPr>
          <a:xfrm>
            <a:off x="2183211" y="12434436"/>
            <a:ext cx="2138718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JAYA DEEPIKA REDDY CHALLA   |   TEAM A  |   INFOSYS INTERNSHIP 7.0 </a:t>
            </a:r>
          </a:p>
        </p:txBody>
      </p:sp>
      <p:pic>
        <p:nvPicPr>
          <p:cNvPr id="219" name="5a431f16-3470-4919-b58c-93e0e1753eca.png" descr="5a431f16-3470-4919-b58c-93e0e1753eca.png"/>
          <p:cNvPicPr>
            <a:picLocks noChangeAspect="1"/>
          </p:cNvPicPr>
          <p:nvPr/>
        </p:nvPicPr>
        <p:blipFill>
          <a:blip r:embed="rId2">
            <a:alphaModFix amt="95557"/>
            <a:extLst/>
          </a:blip>
          <a:stretch>
            <a:fillRect/>
          </a:stretch>
        </p:blipFill>
        <p:spPr>
          <a:xfrm>
            <a:off x="4642201" y="1445651"/>
            <a:ext cx="14751644" cy="98344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