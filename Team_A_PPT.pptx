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afe3ffc3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afe3ffc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afe3ffc3d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fafe3ffc3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afe3ffc3d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fafe3ffc3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pic>
        <p:nvPicPr>
          <p:cNvPr descr="Droplets-HD-Content-R1d.png" id="13" name="Google Shape;13;p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 name="Google Shape;14;p2"/>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pic>
        <p:nvPicPr>
          <p:cNvPr descr="Droplets-HD-Title-R1d.png" id="18" name="Google Shape;18;p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9" name="Google Shape;19;p3"/>
          <p:cNvSpPr txBox="1"/>
          <p:nvPr>
            <p:ph type="ctrTitle"/>
          </p:nvPr>
        </p:nvSpPr>
        <p:spPr>
          <a:xfrm>
            <a:off x="1751012" y="1300785"/>
            <a:ext cx="8689976" cy="2509213"/>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800"/>
              <a:buFont typeface="Twentieth Centur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 type="subTitle"/>
          </p:nvPr>
        </p:nvSpPr>
        <p:spPr>
          <a:xfrm>
            <a:off x="1751012" y="3886200"/>
            <a:ext cx="8689976" cy="1371599"/>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1000"/>
              </a:spcBef>
              <a:spcAft>
                <a:spcPts val="0"/>
              </a:spcAft>
              <a:buSzPts val="2200"/>
              <a:buNone/>
              <a:defRPr sz="2200">
                <a:solidFill>
                  <a:srgbClr val="7F7F7F"/>
                </a:solidFill>
              </a:defRPr>
            </a:lvl1pPr>
            <a:lvl2pPr lvl="1" algn="ctr">
              <a:lnSpc>
                <a:spcPct val="120000"/>
              </a:lnSpc>
              <a:spcBef>
                <a:spcPts val="500"/>
              </a:spcBef>
              <a:spcAft>
                <a:spcPts val="0"/>
              </a:spcAft>
              <a:buSzPts val="2000"/>
              <a:buNone/>
              <a:defRPr sz="20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21" name="Google Shape;21;p3"/>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pic>
        <p:nvPicPr>
          <p:cNvPr descr="Droplets-HD-Content-R1d.png" id="25" name="Google Shape;25;p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6" name="Google Shape;26;p4"/>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8" name="Google Shape;28;p4"/>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pic>
        <p:nvPicPr>
          <p:cNvPr descr="Droplets-HD-Content-R1d.png" id="32" name="Google Shape;32;p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3" name="Google Shape;33;p5"/>
          <p:cNvSpPr txBox="1"/>
          <p:nvPr>
            <p:ph type="title"/>
          </p:nvPr>
        </p:nvSpPr>
        <p:spPr>
          <a:xfrm>
            <a:off x="913774" y="828563"/>
            <a:ext cx="10351752" cy="2736819"/>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000"/>
              <a:buFont typeface="Twentieth Century"/>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 type="body"/>
          </p:nvPr>
        </p:nvSpPr>
        <p:spPr>
          <a:xfrm>
            <a:off x="913774" y="3657457"/>
            <a:ext cx="10351752" cy="1368183"/>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2000"/>
              <a:buNone/>
              <a:defRPr sz="2000">
                <a:solidFill>
                  <a:srgbClr val="7F7F7F"/>
                </a:solidFill>
              </a:defRPr>
            </a:lvl1pPr>
            <a:lvl2pPr indent="-228600" lvl="1" marL="914400" algn="l">
              <a:lnSpc>
                <a:spcPct val="120000"/>
              </a:lnSpc>
              <a:spcBef>
                <a:spcPts val="500"/>
              </a:spcBef>
              <a:spcAft>
                <a:spcPts val="0"/>
              </a:spcAft>
              <a:buSzPts val="2000"/>
              <a:buNone/>
              <a:defRPr sz="20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35" name="Google Shape;35;p5"/>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pic>
        <p:nvPicPr>
          <p:cNvPr descr="Droplets-HD-Content-R1d.png" id="39" name="Google Shape;39;p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0" name="Google Shape;40;p6"/>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 type="body"/>
          </p:nvPr>
        </p:nvSpPr>
        <p:spPr>
          <a:xfrm>
            <a:off x="913774" y="2367092"/>
            <a:ext cx="5106026"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2" name="Google Shape;42;p6"/>
          <p:cNvSpPr txBox="1"/>
          <p:nvPr>
            <p:ph idx="2" type="body"/>
          </p:nvPr>
        </p:nvSpPr>
        <p:spPr>
          <a:xfrm>
            <a:off x="6172200" y="2367092"/>
            <a:ext cx="5105400"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3" name="Google Shape;43;p6"/>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pic>
        <p:nvPicPr>
          <p:cNvPr descr="Droplets-HD-Content-R1d.png" id="47" name="Google Shape;47;p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8" name="Google Shape;48;p7"/>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 type="body"/>
          </p:nvPr>
        </p:nvSpPr>
        <p:spPr>
          <a:xfrm>
            <a:off x="1146328" y="2371018"/>
            <a:ext cx="4873474" cy="679994"/>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1000"/>
              </a:spcBef>
              <a:spcAft>
                <a:spcPts val="0"/>
              </a:spcAft>
              <a:buSzPts val="2600"/>
              <a:buNone/>
              <a:defRPr b="0" sz="26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0" name="Google Shape;50;p7"/>
          <p:cNvSpPr txBox="1"/>
          <p:nvPr>
            <p:ph idx="2" type="body"/>
          </p:nvPr>
        </p:nvSpPr>
        <p:spPr>
          <a:xfrm>
            <a:off x="913774" y="3051012"/>
            <a:ext cx="5106027" cy="274018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1" name="Google Shape;51;p7"/>
          <p:cNvSpPr txBox="1"/>
          <p:nvPr>
            <p:ph idx="3" type="body"/>
          </p:nvPr>
        </p:nvSpPr>
        <p:spPr>
          <a:xfrm>
            <a:off x="6396423" y="2371018"/>
            <a:ext cx="4881804" cy="679994"/>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1000"/>
              </a:spcBef>
              <a:spcAft>
                <a:spcPts val="0"/>
              </a:spcAft>
              <a:buSzPts val="2600"/>
              <a:buNone/>
              <a:defRPr b="0" sz="26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2" name="Google Shape;52;p7"/>
          <p:cNvSpPr txBox="1"/>
          <p:nvPr>
            <p:ph idx="4" type="body"/>
          </p:nvPr>
        </p:nvSpPr>
        <p:spPr>
          <a:xfrm>
            <a:off x="6172200" y="3051012"/>
            <a:ext cx="5105401" cy="274018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3" name="Google Shape;53;p7"/>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7"/>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pic>
        <p:nvPicPr>
          <p:cNvPr descr="Droplets-HD-Content-R1d.png" id="57" name="Google Shape;57;p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8" name="Google Shape;58;p8"/>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pic>
        <p:nvPicPr>
          <p:cNvPr descr="Droplets-HD-Content-R1d.png" id="63" name="Google Shape;63;p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4" name="Google Shape;64;p9"/>
          <p:cNvSpPr txBox="1"/>
          <p:nvPr>
            <p:ph type="title"/>
          </p:nvPr>
        </p:nvSpPr>
        <p:spPr>
          <a:xfrm>
            <a:off x="913775" y="609600"/>
            <a:ext cx="3935688" cy="202325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
          <p:cNvSpPr txBox="1"/>
          <p:nvPr>
            <p:ph idx="1" type="body"/>
          </p:nvPr>
        </p:nvSpPr>
        <p:spPr>
          <a:xfrm>
            <a:off x="5078062" y="609600"/>
            <a:ext cx="6200163" cy="518159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6" name="Google Shape;66;p9"/>
          <p:cNvSpPr txBox="1"/>
          <p:nvPr>
            <p:ph idx="2" type="body"/>
          </p:nvPr>
        </p:nvSpPr>
        <p:spPr>
          <a:xfrm>
            <a:off x="913774" y="2632852"/>
            <a:ext cx="3935689" cy="315834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67" name="Google Shape;67;p9"/>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9"/>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pic>
        <p:nvPicPr>
          <p:cNvPr descr="Droplets-HD-Content-R1d.png" id="71" name="Google Shape;71;p1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72" name="Google Shape;72;p10"/>
          <p:cNvSpPr txBox="1"/>
          <p:nvPr>
            <p:ph type="title"/>
          </p:nvPr>
        </p:nvSpPr>
        <p:spPr>
          <a:xfrm>
            <a:off x="913774" y="609600"/>
            <a:ext cx="5934969" cy="2023254"/>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
          <p:cNvSpPr/>
          <p:nvPr>
            <p:ph idx="2" type="pic"/>
          </p:nvPr>
        </p:nvSpPr>
        <p:spPr>
          <a:xfrm>
            <a:off x="7424803" y="609601"/>
            <a:ext cx="3255358" cy="5181600"/>
          </a:xfrm>
          <a:prstGeom prst="roundRect">
            <a:avLst>
              <a:gd fmla="val 4943" name="adj"/>
            </a:avLst>
          </a:prstGeom>
          <a:noFill/>
          <a:ln cap="sq" cmpd="sng" w="82550">
            <a:solidFill>
              <a:srgbClr val="EAEAEA"/>
            </a:solidFill>
            <a:prstDash val="solid"/>
            <a:miter lim="0"/>
            <a:headEnd len="sm" w="sm" type="none"/>
            <a:tailEnd len="sm" w="sm" type="none"/>
          </a:ln>
        </p:spPr>
      </p:sp>
      <p:sp>
        <p:nvSpPr>
          <p:cNvPr id="74" name="Google Shape;74;p10"/>
          <p:cNvSpPr txBox="1"/>
          <p:nvPr>
            <p:ph idx="1" type="body"/>
          </p:nvPr>
        </p:nvSpPr>
        <p:spPr>
          <a:xfrm>
            <a:off x="913794" y="2632852"/>
            <a:ext cx="5934949" cy="3158347"/>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5" name="Google Shape;75;p10"/>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8" name="Shape 78"/>
        <p:cNvGrpSpPr/>
        <p:nvPr/>
      </p:nvGrpSpPr>
      <p:grpSpPr>
        <a:xfrm>
          <a:off x="0" y="0"/>
          <a:ext cx="0" cy="0"/>
          <a:chOff x="0" y="0"/>
          <a:chExt cx="0" cy="0"/>
        </a:xfrm>
      </p:grpSpPr>
      <p:pic>
        <p:nvPicPr>
          <p:cNvPr descr="Droplets-HD-Content-R1d.png" id="79" name="Google Shape;79;p1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0" name="Google Shape;80;p11"/>
          <p:cNvSpPr txBox="1"/>
          <p:nvPr>
            <p:ph type="title"/>
          </p:nvPr>
        </p:nvSpPr>
        <p:spPr>
          <a:xfrm>
            <a:off x="913794" y="4289374"/>
            <a:ext cx="10364432" cy="81161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
          <p:cNvSpPr/>
          <p:nvPr>
            <p:ph idx="2" type="pic"/>
          </p:nvPr>
        </p:nvSpPr>
        <p:spPr>
          <a:xfrm>
            <a:off x="1184744" y="698261"/>
            <a:ext cx="9822532" cy="3214136"/>
          </a:xfrm>
          <a:prstGeom prst="roundRect">
            <a:avLst>
              <a:gd fmla="val 4944" name="adj"/>
            </a:avLst>
          </a:prstGeom>
          <a:noFill/>
          <a:ln cap="sq" cmpd="sng" w="82550">
            <a:solidFill>
              <a:srgbClr val="EAEAEA"/>
            </a:solidFill>
            <a:prstDash val="solid"/>
            <a:miter lim="0"/>
            <a:headEnd len="sm" w="sm" type="none"/>
            <a:tailEnd len="sm" w="sm" type="none"/>
          </a:ln>
        </p:spPr>
      </p:sp>
      <p:sp>
        <p:nvSpPr>
          <p:cNvPr id="82" name="Google Shape;82;p11"/>
          <p:cNvSpPr txBox="1"/>
          <p:nvPr>
            <p:ph idx="1" type="body"/>
          </p:nvPr>
        </p:nvSpPr>
        <p:spPr>
          <a:xfrm>
            <a:off x="913774" y="5108728"/>
            <a:ext cx="10364452" cy="682472"/>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83" name="Google Shape;83;p11"/>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1"/>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6" name="Shape 86"/>
        <p:cNvGrpSpPr/>
        <p:nvPr/>
      </p:nvGrpSpPr>
      <p:grpSpPr>
        <a:xfrm>
          <a:off x="0" y="0"/>
          <a:ext cx="0" cy="0"/>
          <a:chOff x="0" y="0"/>
          <a:chExt cx="0" cy="0"/>
        </a:xfrm>
      </p:grpSpPr>
      <p:pic>
        <p:nvPicPr>
          <p:cNvPr descr="Droplets-HD-Content-R1d.png" id="87" name="Google Shape;87;p1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8" name="Google Shape;88;p12"/>
          <p:cNvSpPr txBox="1"/>
          <p:nvPr>
            <p:ph type="title"/>
          </p:nvPr>
        </p:nvSpPr>
        <p:spPr>
          <a:xfrm>
            <a:off x="913774" y="609599"/>
            <a:ext cx="10364452" cy="3427245"/>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2"/>
          <p:cNvSpPr txBox="1"/>
          <p:nvPr>
            <p:ph idx="1" type="body"/>
          </p:nvPr>
        </p:nvSpPr>
        <p:spPr>
          <a:xfrm>
            <a:off x="913775" y="4204821"/>
            <a:ext cx="10364452" cy="1586380"/>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90" name="Google Shape;90;p12"/>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2"/>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2"/>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3" name="Shape 93"/>
        <p:cNvGrpSpPr/>
        <p:nvPr/>
      </p:nvGrpSpPr>
      <p:grpSpPr>
        <a:xfrm>
          <a:off x="0" y="0"/>
          <a:ext cx="0" cy="0"/>
          <a:chOff x="0" y="0"/>
          <a:chExt cx="0" cy="0"/>
        </a:xfrm>
      </p:grpSpPr>
      <p:pic>
        <p:nvPicPr>
          <p:cNvPr descr="Droplets-HD-Content-R1d.png" id="94" name="Google Shape;94;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5" name="Google Shape;95;p13"/>
          <p:cNvSpPr txBox="1"/>
          <p:nvPr>
            <p:ph type="title"/>
          </p:nvPr>
        </p:nvSpPr>
        <p:spPr>
          <a:xfrm>
            <a:off x="1446212" y="609600"/>
            <a:ext cx="9302752" cy="299290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3"/>
          <p:cNvSpPr txBox="1"/>
          <p:nvPr>
            <p:ph idx="1" type="body"/>
          </p:nvPr>
        </p:nvSpPr>
        <p:spPr>
          <a:xfrm>
            <a:off x="1720644" y="3610032"/>
            <a:ext cx="8752299" cy="59478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97" name="Google Shape;97;p13"/>
          <p:cNvSpPr txBox="1"/>
          <p:nvPr>
            <p:ph idx="2" type="body"/>
          </p:nvPr>
        </p:nvSpPr>
        <p:spPr>
          <a:xfrm>
            <a:off x="913774" y="4372796"/>
            <a:ext cx="10364452" cy="1421053"/>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98" name="Google Shape;98;p13"/>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3"/>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3"/>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
        <p:nvSpPr>
          <p:cNvPr id="101" name="Google Shape;101;p13"/>
          <p:cNvSpPr txBox="1"/>
          <p:nvPr/>
        </p:nvSpPr>
        <p:spPr>
          <a:xfrm>
            <a:off x="1001488" y="754166"/>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Twentieth Century"/>
              <a:buNone/>
            </a:pPr>
            <a:r>
              <a:rPr b="0" i="0" lang="en-IN" sz="8000" u="none" cap="none" strike="noStrike">
                <a:solidFill>
                  <a:schemeClr val="dk1"/>
                </a:solidFill>
                <a:latin typeface="Twentieth Century"/>
                <a:ea typeface="Twentieth Century"/>
                <a:cs typeface="Twentieth Century"/>
                <a:sym typeface="Twentieth Century"/>
              </a:rPr>
              <a:t>“</a:t>
            </a:r>
            <a:endParaRPr b="0" i="0" sz="1400" u="none" cap="none" strike="noStrike">
              <a:solidFill>
                <a:srgbClr val="000000"/>
              </a:solidFill>
              <a:latin typeface="Arial"/>
              <a:ea typeface="Arial"/>
              <a:cs typeface="Arial"/>
              <a:sym typeface="Arial"/>
            </a:endParaRPr>
          </a:p>
        </p:txBody>
      </p:sp>
      <p:sp>
        <p:nvSpPr>
          <p:cNvPr id="102" name="Google Shape;102;p13"/>
          <p:cNvSpPr txBox="1"/>
          <p:nvPr/>
        </p:nvSpPr>
        <p:spPr>
          <a:xfrm>
            <a:off x="10557558" y="2993578"/>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Twentieth Century"/>
              <a:buNone/>
            </a:pPr>
            <a:r>
              <a:rPr b="0" i="0" lang="en-IN" sz="8000" u="none" cap="none" strike="noStrike">
                <a:solidFill>
                  <a:schemeClr val="dk1"/>
                </a:solidFill>
                <a:latin typeface="Twentieth Century"/>
                <a:ea typeface="Twentieth Century"/>
                <a:cs typeface="Twentieth Century"/>
                <a:sym typeface="Twentieth Century"/>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3" name="Shape 103"/>
        <p:cNvGrpSpPr/>
        <p:nvPr/>
      </p:nvGrpSpPr>
      <p:grpSpPr>
        <a:xfrm>
          <a:off x="0" y="0"/>
          <a:ext cx="0" cy="0"/>
          <a:chOff x="0" y="0"/>
          <a:chExt cx="0" cy="0"/>
        </a:xfrm>
      </p:grpSpPr>
      <p:pic>
        <p:nvPicPr>
          <p:cNvPr descr="Droplets-HD-Content-R1d.png" id="104" name="Google Shape;104;p1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5" name="Google Shape;105;p14"/>
          <p:cNvSpPr txBox="1"/>
          <p:nvPr>
            <p:ph type="title"/>
          </p:nvPr>
        </p:nvSpPr>
        <p:spPr>
          <a:xfrm>
            <a:off x="913775" y="2138721"/>
            <a:ext cx="10364452" cy="2511835"/>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4"/>
          <p:cNvSpPr txBox="1"/>
          <p:nvPr>
            <p:ph idx="1" type="body"/>
          </p:nvPr>
        </p:nvSpPr>
        <p:spPr>
          <a:xfrm>
            <a:off x="913775" y="4662335"/>
            <a:ext cx="10364452" cy="114064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107" name="Google Shape;107;p14"/>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4"/>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4"/>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10" name="Shape 110"/>
        <p:cNvGrpSpPr/>
        <p:nvPr/>
      </p:nvGrpSpPr>
      <p:grpSpPr>
        <a:xfrm>
          <a:off x="0" y="0"/>
          <a:ext cx="0" cy="0"/>
          <a:chOff x="0" y="0"/>
          <a:chExt cx="0" cy="0"/>
        </a:xfrm>
      </p:grpSpPr>
      <p:pic>
        <p:nvPicPr>
          <p:cNvPr descr="Droplets-HD-Content-R1d.png" id="111" name="Google Shape;111;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2" name="Google Shape;112;p15"/>
          <p:cNvSpPr txBox="1"/>
          <p:nvPr>
            <p:ph type="title"/>
          </p:nvPr>
        </p:nvSpPr>
        <p:spPr>
          <a:xfrm>
            <a:off x="913774" y="609600"/>
            <a:ext cx="10364452" cy="160509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5"/>
          <p:cNvSpPr txBox="1"/>
          <p:nvPr>
            <p:ph idx="1" type="body"/>
          </p:nvPr>
        </p:nvSpPr>
        <p:spPr>
          <a:xfrm>
            <a:off x="913774" y="2367093"/>
            <a:ext cx="3298976"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400"/>
              <a:buNone/>
              <a:defRPr b="0" sz="24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14" name="Google Shape;114;p15"/>
          <p:cNvSpPr txBox="1"/>
          <p:nvPr>
            <p:ph idx="2" type="body"/>
          </p:nvPr>
        </p:nvSpPr>
        <p:spPr>
          <a:xfrm>
            <a:off x="913774" y="2943355"/>
            <a:ext cx="3298976" cy="284784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15" name="Google Shape;115;p15"/>
          <p:cNvSpPr txBox="1"/>
          <p:nvPr>
            <p:ph idx="3" type="body"/>
          </p:nvPr>
        </p:nvSpPr>
        <p:spPr>
          <a:xfrm>
            <a:off x="4452389" y="2367093"/>
            <a:ext cx="3291521"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400"/>
              <a:buNone/>
              <a:defRPr b="0" sz="24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16" name="Google Shape;116;p15"/>
          <p:cNvSpPr txBox="1"/>
          <p:nvPr>
            <p:ph idx="4" type="body"/>
          </p:nvPr>
        </p:nvSpPr>
        <p:spPr>
          <a:xfrm>
            <a:off x="4441348" y="2943355"/>
            <a:ext cx="3303351" cy="284784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17" name="Google Shape;117;p15"/>
          <p:cNvSpPr txBox="1"/>
          <p:nvPr>
            <p:ph idx="5" type="body"/>
          </p:nvPr>
        </p:nvSpPr>
        <p:spPr>
          <a:xfrm>
            <a:off x="7973298" y="2367093"/>
            <a:ext cx="3304928"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400"/>
              <a:buNone/>
              <a:defRPr b="0" sz="24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18" name="Google Shape;118;p15"/>
          <p:cNvSpPr txBox="1"/>
          <p:nvPr>
            <p:ph idx="6" type="body"/>
          </p:nvPr>
        </p:nvSpPr>
        <p:spPr>
          <a:xfrm>
            <a:off x="7973298" y="2943355"/>
            <a:ext cx="3304928" cy="284784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19" name="Google Shape;119;p15"/>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5"/>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5"/>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22" name="Shape 122"/>
        <p:cNvGrpSpPr/>
        <p:nvPr/>
      </p:nvGrpSpPr>
      <p:grpSpPr>
        <a:xfrm>
          <a:off x="0" y="0"/>
          <a:ext cx="0" cy="0"/>
          <a:chOff x="0" y="0"/>
          <a:chExt cx="0" cy="0"/>
        </a:xfrm>
      </p:grpSpPr>
      <p:pic>
        <p:nvPicPr>
          <p:cNvPr descr="Droplets-HD-Content-R1d.png" id="123" name="Google Shape;123;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4" name="Google Shape;124;p16"/>
          <p:cNvSpPr txBox="1"/>
          <p:nvPr>
            <p:ph type="title"/>
          </p:nvPr>
        </p:nvSpPr>
        <p:spPr>
          <a:xfrm>
            <a:off x="913774" y="610772"/>
            <a:ext cx="10364452" cy="160392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6"/>
          <p:cNvSpPr txBox="1"/>
          <p:nvPr>
            <p:ph idx="1" type="body"/>
          </p:nvPr>
        </p:nvSpPr>
        <p:spPr>
          <a:xfrm>
            <a:off x="913774" y="4204820"/>
            <a:ext cx="3296409"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200"/>
              <a:buNone/>
              <a:defRPr b="0" sz="22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26" name="Google Shape;126;p16"/>
          <p:cNvSpPr/>
          <p:nvPr>
            <p:ph idx="2" type="pic"/>
          </p:nvPr>
        </p:nvSpPr>
        <p:spPr>
          <a:xfrm>
            <a:off x="913774" y="2367093"/>
            <a:ext cx="3296409" cy="1524000"/>
          </a:xfrm>
          <a:prstGeom prst="roundRect">
            <a:avLst>
              <a:gd fmla="val 9363" name="adj"/>
            </a:avLst>
          </a:prstGeom>
          <a:noFill/>
          <a:ln cap="sq" cmpd="sng" w="82550">
            <a:solidFill>
              <a:srgbClr val="EAEAEA"/>
            </a:solidFill>
            <a:prstDash val="solid"/>
            <a:miter lim="0"/>
            <a:headEnd len="sm" w="sm" type="none"/>
            <a:tailEnd len="sm" w="sm" type="none"/>
          </a:ln>
        </p:spPr>
      </p:sp>
      <p:sp>
        <p:nvSpPr>
          <p:cNvPr id="127" name="Google Shape;127;p16"/>
          <p:cNvSpPr txBox="1"/>
          <p:nvPr>
            <p:ph idx="3" type="body"/>
          </p:nvPr>
        </p:nvSpPr>
        <p:spPr>
          <a:xfrm>
            <a:off x="913774" y="4781082"/>
            <a:ext cx="3296409" cy="101011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28" name="Google Shape;128;p16"/>
          <p:cNvSpPr txBox="1"/>
          <p:nvPr>
            <p:ph idx="4" type="body"/>
          </p:nvPr>
        </p:nvSpPr>
        <p:spPr>
          <a:xfrm>
            <a:off x="4442759" y="4204820"/>
            <a:ext cx="3301828"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200"/>
              <a:buNone/>
              <a:defRPr b="0" sz="22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29" name="Google Shape;129;p16"/>
          <p:cNvSpPr/>
          <p:nvPr>
            <p:ph idx="5" type="pic"/>
          </p:nvPr>
        </p:nvSpPr>
        <p:spPr>
          <a:xfrm>
            <a:off x="4441348" y="2367093"/>
            <a:ext cx="3303352" cy="1524000"/>
          </a:xfrm>
          <a:prstGeom prst="roundRect">
            <a:avLst>
              <a:gd fmla="val 8841" name="adj"/>
            </a:avLst>
          </a:prstGeom>
          <a:noFill/>
          <a:ln cap="sq" cmpd="sng" w="82550">
            <a:solidFill>
              <a:srgbClr val="EAEAEA"/>
            </a:solidFill>
            <a:prstDash val="solid"/>
            <a:miter lim="0"/>
            <a:headEnd len="sm" w="sm" type="none"/>
            <a:tailEnd len="sm" w="sm" type="none"/>
          </a:ln>
        </p:spPr>
      </p:sp>
      <p:sp>
        <p:nvSpPr>
          <p:cNvPr id="130" name="Google Shape;130;p16"/>
          <p:cNvSpPr txBox="1"/>
          <p:nvPr>
            <p:ph idx="6" type="body"/>
          </p:nvPr>
        </p:nvSpPr>
        <p:spPr>
          <a:xfrm>
            <a:off x="4441348" y="4781080"/>
            <a:ext cx="3303352" cy="1010119"/>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31" name="Google Shape;131;p16"/>
          <p:cNvSpPr txBox="1"/>
          <p:nvPr>
            <p:ph idx="7" type="body"/>
          </p:nvPr>
        </p:nvSpPr>
        <p:spPr>
          <a:xfrm>
            <a:off x="7973298" y="4204820"/>
            <a:ext cx="3300681"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200"/>
              <a:buNone/>
              <a:defRPr b="0" sz="22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32" name="Google Shape;132;p16"/>
          <p:cNvSpPr/>
          <p:nvPr>
            <p:ph idx="8" type="pic"/>
          </p:nvPr>
        </p:nvSpPr>
        <p:spPr>
          <a:xfrm>
            <a:off x="7973298" y="2367093"/>
            <a:ext cx="3304928" cy="1524000"/>
          </a:xfrm>
          <a:prstGeom prst="roundRect">
            <a:avLst>
              <a:gd fmla="val 8841" name="adj"/>
            </a:avLst>
          </a:prstGeom>
          <a:noFill/>
          <a:ln cap="sq" cmpd="sng" w="82550">
            <a:solidFill>
              <a:srgbClr val="EAEAEA"/>
            </a:solidFill>
            <a:prstDash val="solid"/>
            <a:miter lim="0"/>
            <a:headEnd len="sm" w="sm" type="none"/>
            <a:tailEnd len="sm" w="sm" type="none"/>
          </a:ln>
        </p:spPr>
      </p:sp>
      <p:sp>
        <p:nvSpPr>
          <p:cNvPr id="133" name="Google Shape;133;p16"/>
          <p:cNvSpPr txBox="1"/>
          <p:nvPr>
            <p:ph idx="9" type="body"/>
          </p:nvPr>
        </p:nvSpPr>
        <p:spPr>
          <a:xfrm>
            <a:off x="7973173" y="4781078"/>
            <a:ext cx="3305053" cy="1010121"/>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34" name="Google Shape;134;p16"/>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6"/>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6"/>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7" name="Shape 137"/>
        <p:cNvGrpSpPr/>
        <p:nvPr/>
      </p:nvGrpSpPr>
      <p:grpSpPr>
        <a:xfrm>
          <a:off x="0" y="0"/>
          <a:ext cx="0" cy="0"/>
          <a:chOff x="0" y="0"/>
          <a:chExt cx="0" cy="0"/>
        </a:xfrm>
      </p:grpSpPr>
      <p:pic>
        <p:nvPicPr>
          <p:cNvPr descr="Droplets-HD-Content-R1d.png" id="138" name="Google Shape;138;p1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9" name="Google Shape;139;p17"/>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17"/>
          <p:cNvSpPr txBox="1"/>
          <p:nvPr>
            <p:ph idx="1" type="body"/>
          </p:nvPr>
        </p:nvSpPr>
        <p:spPr>
          <a:xfrm rot="5400000">
            <a:off x="4383948" y="-1103080"/>
            <a:ext cx="3424107" cy="1036445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141" name="Google Shape;141;p17"/>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7"/>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17"/>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4" name="Shape 144"/>
        <p:cNvGrpSpPr/>
        <p:nvPr/>
      </p:nvGrpSpPr>
      <p:grpSpPr>
        <a:xfrm>
          <a:off x="0" y="0"/>
          <a:ext cx="0" cy="0"/>
          <a:chOff x="0" y="0"/>
          <a:chExt cx="0" cy="0"/>
        </a:xfrm>
      </p:grpSpPr>
      <p:pic>
        <p:nvPicPr>
          <p:cNvPr descr="Droplets-HD-Content-R1d.png" id="145" name="Google Shape;145;p1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6" name="Google Shape;146;p18"/>
          <p:cNvSpPr txBox="1"/>
          <p:nvPr>
            <p:ph type="title"/>
          </p:nvPr>
        </p:nvSpPr>
        <p:spPr>
          <a:xfrm rot="5400000">
            <a:off x="7410763" y="1923738"/>
            <a:ext cx="5181599" cy="25533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Twentieth Century"/>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18"/>
          <p:cNvSpPr txBox="1"/>
          <p:nvPr>
            <p:ph idx="1" type="body"/>
          </p:nvPr>
        </p:nvSpPr>
        <p:spPr>
          <a:xfrm rot="5400000">
            <a:off x="2152338" y="-628962"/>
            <a:ext cx="5181599" cy="765872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148" name="Google Shape;148;p18"/>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18"/>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18"/>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B7B7B7"/>
            </a:gs>
          </a:gsLst>
          <a:lin ang="5400000" scaled="0"/>
        </a:gradFill>
      </p:bgPr>
    </p:bg>
    <p:spTree>
      <p:nvGrpSpPr>
        <p:cNvPr id="5" name="Shape 5"/>
        <p:cNvGrpSpPr/>
        <p:nvPr/>
      </p:nvGrpSpPr>
      <p:grpSpPr>
        <a:xfrm>
          <a:off x="0" y="0"/>
          <a:ext cx="0" cy="0"/>
          <a:chOff x="0" y="0"/>
          <a:chExt cx="0" cy="0"/>
        </a:xfrm>
      </p:grpSpPr>
      <p:pic>
        <p:nvPicPr>
          <p:cNvPr descr="\\DROBO-FS\QuickDrops\JB\PPTX NG\Droplets\LightingOverlay.png" id="6" name="Google Shape;6;p1"/>
          <p:cNvPicPr preferRelativeResize="0"/>
          <p:nvPr/>
        </p:nvPicPr>
        <p:blipFill rotWithShape="1">
          <a:blip r:embed="rId1">
            <a:alphaModFix/>
          </a:blip>
          <a:srcRect b="0" l="0" r="0" t="0"/>
          <a:stretch/>
        </p:blipFill>
        <p:spPr>
          <a:xfrm>
            <a:off x="0" y="-1"/>
            <a:ext cx="12192003" cy="6858001"/>
          </a:xfrm>
          <a:prstGeom prst="rect">
            <a:avLst/>
          </a:prstGeom>
          <a:noFill/>
          <a:ln>
            <a:noFill/>
          </a:ln>
        </p:spPr>
      </p:pic>
      <p:sp>
        <p:nvSpPr>
          <p:cNvPr id="7" name="Google Shape;7;p1"/>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3600"/>
              <a:buFont typeface="Twentieth Century"/>
              <a:buNone/>
              <a:defRPr b="0" i="0" sz="3600" u="none" cap="none" strike="noStrike">
                <a:solidFill>
                  <a:schemeClr val="dk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
          <p:cNvSpPr txBox="1"/>
          <p:nvPr>
            <p:ph idx="1" type="body"/>
          </p:nvPr>
        </p:nvSpPr>
        <p:spPr>
          <a:xfrm>
            <a:off x="913775" y="2367093"/>
            <a:ext cx="10364452" cy="3424107"/>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dk1"/>
              </a:buClr>
              <a:buSzPts val="2000"/>
              <a:buFont typeface="Arial"/>
              <a:buChar char="•"/>
              <a:defRPr b="0" i="0" sz="20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120000"/>
              </a:lnSpc>
              <a:spcBef>
                <a:spcPts val="500"/>
              </a:spcBef>
              <a:spcAft>
                <a:spcPts val="0"/>
              </a:spcAft>
              <a:buClr>
                <a:schemeClr val="dk1"/>
              </a:buClr>
              <a:buSzPts val="1800"/>
              <a:buFont typeface="Arial"/>
              <a:buChar char="•"/>
              <a:defRPr b="0" i="0" sz="1800" u="none" cap="none" strike="noStrike">
                <a:solidFill>
                  <a:schemeClr val="dk1"/>
                </a:solidFill>
                <a:latin typeface="Twentieth Century"/>
                <a:ea typeface="Twentieth Century"/>
                <a:cs typeface="Twentieth Century"/>
                <a:sym typeface="Twentieth Century"/>
              </a:defRPr>
            </a:lvl2pPr>
            <a:lvl3pPr indent="-330200" lvl="2" marL="1371600" marR="0" rtl="0" algn="l">
              <a:lnSpc>
                <a:spcPct val="120000"/>
              </a:lnSpc>
              <a:spcBef>
                <a:spcPts val="500"/>
              </a:spcBef>
              <a:spcAft>
                <a:spcPts val="0"/>
              </a:spcAft>
              <a:buClr>
                <a:schemeClr val="dk1"/>
              </a:buClr>
              <a:buSzPts val="1600"/>
              <a:buFont typeface="Arial"/>
              <a:buChar char="•"/>
              <a:defRPr b="0" i="0" sz="16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9" name="Google Shape;9;p1"/>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 name="Google Shape;10;p1"/>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1" name="Google Shape;11;p1"/>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9"/>
          <p:cNvSpPr txBox="1"/>
          <p:nvPr/>
        </p:nvSpPr>
        <p:spPr>
          <a:xfrm>
            <a:off x="129075" y="3448725"/>
            <a:ext cx="121920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n-IN" sz="2400" u="none" cap="none" strike="noStrike">
                <a:solidFill>
                  <a:schemeClr val="dk1"/>
                </a:solidFill>
                <a:latin typeface="Arial"/>
                <a:ea typeface="Arial"/>
                <a:cs typeface="Arial"/>
                <a:sym typeface="Arial"/>
              </a:rPr>
              <a:t>Internship:</a:t>
            </a:r>
            <a:r>
              <a:rPr b="0" i="0" lang="en-IN" sz="2400" u="none" cap="none" strike="noStrike">
                <a:solidFill>
                  <a:schemeClr val="dk1"/>
                </a:solidFill>
                <a:latin typeface="Arial"/>
                <a:ea typeface="Arial"/>
                <a:cs typeface="Arial"/>
                <a:sym typeface="Arial"/>
              </a:rPr>
              <a:t> Infosys Springboard Virtual Internship 7.0 </a:t>
            </a:r>
            <a:endParaRPr b="1" i="0" sz="2400" u="none" cap="none" strike="noStrike">
              <a:solidFill>
                <a:schemeClr val="dk1"/>
              </a:solidFill>
              <a:latin typeface="Twentieth Century"/>
              <a:ea typeface="Twentieth Century"/>
              <a:cs typeface="Twentieth Century"/>
              <a:sym typeface="Twentieth Century"/>
            </a:endParaRPr>
          </a:p>
        </p:txBody>
      </p:sp>
      <p:sp>
        <p:nvSpPr>
          <p:cNvPr id="156" name="Google Shape;156;p19"/>
          <p:cNvSpPr txBox="1"/>
          <p:nvPr/>
        </p:nvSpPr>
        <p:spPr>
          <a:xfrm>
            <a:off x="0" y="0"/>
            <a:ext cx="121920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n-IN" sz="3000" u="none" cap="none" strike="noStrike">
                <a:solidFill>
                  <a:schemeClr val="dk1"/>
                </a:solidFill>
                <a:latin typeface="Twentieth Century"/>
                <a:ea typeface="Twentieth Century"/>
                <a:cs typeface="Twentieth Century"/>
                <a:sym typeface="Twentieth Century"/>
              </a:rPr>
              <a:t>Supply Chain Visibility System with Optimization Analytics Group 1</a:t>
            </a:r>
            <a:endParaRPr b="1" i="0" sz="3000" u="none" cap="none" strike="noStrike">
              <a:solidFill>
                <a:schemeClr val="dk1"/>
              </a:solidFill>
              <a:latin typeface="Twentieth Century"/>
              <a:ea typeface="Twentieth Century"/>
              <a:cs typeface="Twentieth Century"/>
              <a:sym typeface="Twentieth Century"/>
            </a:endParaRPr>
          </a:p>
        </p:txBody>
      </p:sp>
      <p:sp>
        <p:nvSpPr>
          <p:cNvPr id="157" name="Google Shape;157;p19"/>
          <p:cNvSpPr txBox="1"/>
          <p:nvPr/>
        </p:nvSpPr>
        <p:spPr>
          <a:xfrm>
            <a:off x="129075" y="4606875"/>
            <a:ext cx="121920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Mentor:</a:t>
            </a:r>
            <a:r>
              <a:rPr b="0" i="0" lang="en-IN" sz="2400" u="none" cap="none" strike="noStrike">
                <a:solidFill>
                  <a:schemeClr val="dk1"/>
                </a:solidFill>
                <a:latin typeface="Arial"/>
                <a:ea typeface="Arial"/>
                <a:cs typeface="Arial"/>
                <a:sym typeface="Arial"/>
              </a:rPr>
              <a:t> Ms. Nityasree  </a:t>
            </a:r>
            <a:endParaRPr b="0" i="0" sz="2400" u="none" cap="none" strike="noStrike">
              <a:solidFill>
                <a:schemeClr val="dk1"/>
              </a:solidFill>
              <a:latin typeface="Twentieth Century"/>
              <a:ea typeface="Twentieth Century"/>
              <a:cs typeface="Twentieth Century"/>
              <a:sym typeface="Twentieth Century"/>
            </a:endParaRPr>
          </a:p>
        </p:txBody>
      </p:sp>
      <p:sp>
        <p:nvSpPr>
          <p:cNvPr id="158" name="Google Shape;158;p19"/>
          <p:cNvSpPr txBox="1"/>
          <p:nvPr/>
        </p:nvSpPr>
        <p:spPr>
          <a:xfrm>
            <a:off x="129075" y="1087600"/>
            <a:ext cx="11863500" cy="1354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0"/>
              </a:spcAft>
              <a:buClr>
                <a:schemeClr val="dk1"/>
              </a:buClr>
              <a:buSzPts val="1100"/>
              <a:buFont typeface="Arial"/>
              <a:buNone/>
            </a:pPr>
            <a:r>
              <a:rPr b="0" i="1" lang="en-IN" sz="2000" u="none" cap="none" strike="noStrike">
                <a:solidFill>
                  <a:schemeClr val="dk1"/>
                </a:solidFill>
                <a:latin typeface="Arial"/>
                <a:ea typeface="Arial"/>
                <a:cs typeface="Arial"/>
                <a:sym typeface="Arial"/>
              </a:rPr>
              <a:t>An interactive Power BI-based solution for analyzing supply chain performance and generating meaningful business insights. </a:t>
            </a:r>
            <a:endParaRPr b="0" i="1" sz="20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1"/>
              </a:solidFill>
              <a:latin typeface="Twentieth Century"/>
              <a:ea typeface="Twentieth Century"/>
              <a:cs typeface="Twentieth Century"/>
              <a:sym typeface="Twentieth Century"/>
            </a:endParaRPr>
          </a:p>
        </p:txBody>
      </p:sp>
      <p:sp>
        <p:nvSpPr>
          <p:cNvPr id="159" name="Google Shape;159;p19"/>
          <p:cNvSpPr txBox="1"/>
          <p:nvPr/>
        </p:nvSpPr>
        <p:spPr>
          <a:xfrm>
            <a:off x="0" y="2377425"/>
            <a:ext cx="12192000" cy="1071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0"/>
              </a:spcAft>
              <a:buClr>
                <a:schemeClr val="dk1"/>
              </a:buClr>
              <a:buSzPts val="1100"/>
              <a:buFont typeface="Arial"/>
              <a:buNone/>
            </a:pPr>
            <a:r>
              <a:rPr b="1" i="0" lang="en-IN" sz="2400" u="none" cap="none" strike="noStrike">
                <a:solidFill>
                  <a:schemeClr val="dk1"/>
                </a:solidFill>
                <a:latin typeface="Arial"/>
                <a:ea typeface="Arial"/>
                <a:cs typeface="Arial"/>
                <a:sym typeface="Arial"/>
              </a:rPr>
              <a:t>       Team Member:</a:t>
            </a:r>
            <a:r>
              <a:rPr b="0" i="0" lang="en-IN" sz="2400" u="none" cap="none" strike="noStrike">
                <a:solidFill>
                  <a:schemeClr val="dk1"/>
                </a:solidFill>
                <a:latin typeface="Arial"/>
                <a:ea typeface="Arial"/>
                <a:cs typeface="Arial"/>
                <a:sym typeface="Arial"/>
              </a:rPr>
              <a:t> Kapu Tejaswini</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0"/>
          <p:cNvSpPr txBox="1"/>
          <p:nvPr/>
        </p:nvSpPr>
        <p:spPr>
          <a:xfrm>
            <a:off x="520900" y="748725"/>
            <a:ext cx="11408400" cy="6527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Project Objective</a:t>
            </a:r>
            <a:endParaRPr b="1" i="0" sz="2400" u="none" cap="none" strike="noStrike">
              <a:solidFill>
                <a:schemeClr val="dk1"/>
              </a:solidFill>
              <a:latin typeface="Arial"/>
              <a:ea typeface="Arial"/>
              <a:cs typeface="Arial"/>
              <a:sym typeface="Arial"/>
            </a:endParaRPr>
          </a:p>
          <a:p>
            <a:pPr indent="-368300" lvl="0" marL="457200" marR="0" rtl="0" algn="l">
              <a:lnSpc>
                <a:spcPct val="115000"/>
              </a:lnSpc>
              <a:spcBef>
                <a:spcPts val="1200"/>
              </a:spcBef>
              <a:spcAft>
                <a:spcPts val="0"/>
              </a:spcAft>
              <a:buClr>
                <a:schemeClr val="dk1"/>
              </a:buClr>
              <a:buSzPts val="2200"/>
              <a:buFont typeface="Arial"/>
              <a:buChar char="●"/>
            </a:pPr>
            <a:r>
              <a:rPr b="0" i="0" lang="en-IN" sz="2200" u="none" cap="none" strike="noStrike">
                <a:solidFill>
                  <a:schemeClr val="dk1"/>
                </a:solidFill>
                <a:latin typeface="Arial"/>
                <a:ea typeface="Arial"/>
                <a:cs typeface="Arial"/>
                <a:sym typeface="Arial"/>
              </a:rPr>
              <a:t>To improve visibility into overall supply chain performance.</a:t>
            </a: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0"/>
              </a:spcBef>
              <a:spcAft>
                <a:spcPts val="0"/>
              </a:spcAft>
              <a:buClr>
                <a:schemeClr val="dk1"/>
              </a:buClr>
              <a:buSzPts val="2200"/>
              <a:buFont typeface="Arial"/>
              <a:buChar char="●"/>
            </a:pPr>
            <a:r>
              <a:rPr b="0" i="0" lang="en-IN" sz="2200" u="none" cap="none" strike="noStrike">
                <a:solidFill>
                  <a:schemeClr val="dk1"/>
                </a:solidFill>
                <a:latin typeface="Arial"/>
                <a:ea typeface="Arial"/>
                <a:cs typeface="Arial"/>
                <a:sym typeface="Arial"/>
              </a:rPr>
              <a:t>To analyze sales, orders, products, customers, delivery, shipping, markets, discounts, and profitability.</a:t>
            </a: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0"/>
              </a:spcBef>
              <a:spcAft>
                <a:spcPts val="0"/>
              </a:spcAft>
              <a:buClr>
                <a:schemeClr val="dk1"/>
              </a:buClr>
              <a:buSzPts val="2200"/>
              <a:buFont typeface="Arial"/>
              <a:buChar char="●"/>
            </a:pPr>
            <a:r>
              <a:rPr b="0" i="0" lang="en-IN" sz="2200" u="none" cap="none" strike="noStrike">
                <a:solidFill>
                  <a:schemeClr val="dk1"/>
                </a:solidFill>
                <a:latin typeface="Arial"/>
                <a:ea typeface="Arial"/>
                <a:cs typeface="Arial"/>
                <a:sym typeface="Arial"/>
              </a:rPr>
              <a:t>To transform raw supply chain data into meaningful and interactive visual insights.</a:t>
            </a: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0"/>
              </a:spcBef>
              <a:spcAft>
                <a:spcPts val="0"/>
              </a:spcAft>
              <a:buClr>
                <a:schemeClr val="dk1"/>
              </a:buClr>
              <a:buSzPts val="2200"/>
              <a:buFont typeface="Arial"/>
              <a:buChar char="●"/>
            </a:pPr>
            <a:r>
              <a:rPr b="0" i="0" lang="en-IN" sz="2200" u="none" cap="none" strike="noStrike">
                <a:solidFill>
                  <a:schemeClr val="dk1"/>
                </a:solidFill>
                <a:latin typeface="Arial"/>
                <a:ea typeface="Arial"/>
                <a:cs typeface="Arial"/>
                <a:sym typeface="Arial"/>
              </a:rPr>
              <a:t>To support data-driven business analysis and decision-making.</a:t>
            </a:r>
            <a:endParaRPr b="0" i="0" sz="22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2400"/>
              <a:buFont typeface="Arial"/>
              <a:buNone/>
            </a:pPr>
            <a:r>
              <a:rPr b="1" i="0" lang="en-IN" sz="2400" u="none" cap="none" strike="noStrike">
                <a:solidFill>
                  <a:schemeClr val="dk1"/>
                </a:solidFill>
                <a:latin typeface="Arial"/>
                <a:ea typeface="Arial"/>
                <a:cs typeface="Arial"/>
                <a:sym typeface="Arial"/>
              </a:rPr>
              <a:t>Project Modules</a:t>
            </a:r>
            <a:endParaRPr b="1" i="0" sz="2400" u="none" cap="none" strike="noStrike">
              <a:solidFill>
                <a:schemeClr val="dk1"/>
              </a:solidFill>
              <a:latin typeface="Arial"/>
              <a:ea typeface="Arial"/>
              <a:cs typeface="Arial"/>
              <a:sym typeface="Arial"/>
            </a:endParaRPr>
          </a:p>
          <a:p>
            <a:pPr indent="-368300" lvl="0" marL="457200" marR="0" rtl="0" algn="l">
              <a:lnSpc>
                <a:spcPct val="115000"/>
              </a:lnSpc>
              <a:spcBef>
                <a:spcPts val="1200"/>
              </a:spcBef>
              <a:spcAft>
                <a:spcPts val="0"/>
              </a:spcAft>
              <a:buClr>
                <a:schemeClr val="dk1"/>
              </a:buClr>
              <a:buSzPts val="2200"/>
              <a:buFont typeface="Arial"/>
              <a:buChar char="●"/>
            </a:pPr>
            <a:r>
              <a:rPr b="0" i="0" lang="en-IN" sz="2200" u="none" cap="none" strike="noStrike">
                <a:solidFill>
                  <a:schemeClr val="dk1"/>
                </a:solidFill>
                <a:latin typeface="Arial"/>
                <a:ea typeface="Arial"/>
                <a:cs typeface="Arial"/>
                <a:sym typeface="Arial"/>
              </a:rPr>
              <a:t>Data Acquisition &amp; Understanding</a:t>
            </a: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0"/>
              </a:spcBef>
              <a:spcAft>
                <a:spcPts val="0"/>
              </a:spcAft>
              <a:buClr>
                <a:schemeClr val="dk1"/>
              </a:buClr>
              <a:buSzPts val="2200"/>
              <a:buFont typeface="Arial"/>
              <a:buChar char="●"/>
            </a:pPr>
            <a:r>
              <a:rPr b="0" i="0" lang="en-IN" sz="2200" u="none" cap="none" strike="noStrike">
                <a:solidFill>
                  <a:schemeClr val="dk1"/>
                </a:solidFill>
                <a:latin typeface="Arial"/>
                <a:ea typeface="Arial"/>
                <a:cs typeface="Arial"/>
                <a:sym typeface="Arial"/>
              </a:rPr>
              <a:t>Data Cleaning &amp; Preprocessing</a:t>
            </a: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0"/>
              </a:spcBef>
              <a:spcAft>
                <a:spcPts val="0"/>
              </a:spcAft>
              <a:buClr>
                <a:schemeClr val="dk1"/>
              </a:buClr>
              <a:buSzPts val="2200"/>
              <a:buFont typeface="Arial"/>
              <a:buChar char="●"/>
            </a:pPr>
            <a:r>
              <a:rPr b="0" i="0" lang="en-IN" sz="2200" u="none" cap="none" strike="noStrike">
                <a:solidFill>
                  <a:schemeClr val="dk1"/>
                </a:solidFill>
                <a:latin typeface="Arial"/>
                <a:ea typeface="Arial"/>
                <a:cs typeface="Arial"/>
                <a:sym typeface="Arial"/>
              </a:rPr>
              <a:t>Data Transformation &amp; Analysis</a:t>
            </a: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0"/>
              </a:spcBef>
              <a:spcAft>
                <a:spcPts val="0"/>
              </a:spcAft>
              <a:buClr>
                <a:schemeClr val="dk1"/>
              </a:buClr>
              <a:buSzPts val="2200"/>
              <a:buFont typeface="Arial"/>
              <a:buChar char="●"/>
            </a:pPr>
            <a:r>
              <a:rPr b="0" i="0" lang="en-IN" sz="2200" u="none" cap="none" strike="noStrike">
                <a:solidFill>
                  <a:schemeClr val="dk1"/>
                </a:solidFill>
                <a:latin typeface="Arial"/>
                <a:ea typeface="Arial"/>
                <a:cs typeface="Arial"/>
                <a:sym typeface="Arial"/>
              </a:rPr>
              <a:t>Power BI Dashboard Development</a:t>
            </a: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0"/>
              </a:spcBef>
              <a:spcAft>
                <a:spcPts val="0"/>
              </a:spcAft>
              <a:buClr>
                <a:schemeClr val="dk1"/>
              </a:buClr>
              <a:buSzPts val="2200"/>
              <a:buFont typeface="Arial"/>
              <a:buChar char="●"/>
            </a:pPr>
            <a:r>
              <a:rPr b="0" i="0" lang="en-IN" sz="2200" u="none" cap="none" strike="noStrike">
                <a:solidFill>
                  <a:schemeClr val="dk1"/>
                </a:solidFill>
                <a:latin typeface="Arial"/>
                <a:ea typeface="Arial"/>
                <a:cs typeface="Arial"/>
                <a:sym typeface="Arial"/>
              </a:rPr>
              <a:t>Insights &amp; Business Recommendations</a:t>
            </a:r>
            <a:endParaRPr b="0" i="0" sz="22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0"/>
              </a:spcAft>
              <a:buClr>
                <a:srgbClr val="000000"/>
              </a:buClr>
              <a:buSzPts val="2800"/>
              <a:buFont typeface="Arial"/>
              <a:buNone/>
            </a:pPr>
            <a:r>
              <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1"/>
              </a:solidFill>
              <a:latin typeface="Twentieth Century"/>
              <a:ea typeface="Twentieth Century"/>
              <a:cs typeface="Twentieth Century"/>
              <a:sym typeface="Twentieth Century"/>
            </a:endParaRPr>
          </a:p>
        </p:txBody>
      </p:sp>
      <p:sp>
        <p:nvSpPr>
          <p:cNvPr id="165" name="Google Shape;165;p20"/>
          <p:cNvSpPr txBox="1"/>
          <p:nvPr/>
        </p:nvSpPr>
        <p:spPr>
          <a:xfrm>
            <a:off x="0" y="0"/>
            <a:ext cx="121920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n-IN" sz="3000" u="none" cap="none" strike="noStrike">
                <a:solidFill>
                  <a:schemeClr val="dk1"/>
                </a:solidFill>
                <a:latin typeface="Twentieth Century"/>
                <a:ea typeface="Twentieth Century"/>
                <a:cs typeface="Twentieth Century"/>
                <a:sym typeface="Twentieth Century"/>
              </a:rPr>
              <a:t>PROJECT OBJECTIVE</a:t>
            </a:r>
            <a:endParaRPr b="1" i="0" sz="30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1"/>
          <p:cNvSpPr txBox="1"/>
          <p:nvPr/>
        </p:nvSpPr>
        <p:spPr>
          <a:xfrm>
            <a:off x="0" y="0"/>
            <a:ext cx="121920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i="0" lang="en-IN" sz="2400" u="none" cap="none" strike="noStrike">
                <a:solidFill>
                  <a:schemeClr val="dk1"/>
                </a:solidFill>
                <a:latin typeface="Twentieth Century"/>
                <a:ea typeface="Twentieth Century"/>
                <a:cs typeface="Twentieth Century"/>
                <a:sym typeface="Twentieth Century"/>
              </a:rPr>
              <a:t>PROJECT EXECUTION MILESTONES </a:t>
            </a:r>
            <a:endParaRPr b="1" i="0" sz="2400" u="none" cap="none" strike="noStrike">
              <a:solidFill>
                <a:schemeClr val="dk1"/>
              </a:solidFill>
              <a:latin typeface="Twentieth Century"/>
              <a:ea typeface="Twentieth Century"/>
              <a:cs typeface="Twentieth Century"/>
              <a:sym typeface="Twentieth Century"/>
            </a:endParaRPr>
          </a:p>
        </p:txBody>
      </p:sp>
      <p:sp>
        <p:nvSpPr>
          <p:cNvPr id="171" name="Google Shape;171;p21"/>
          <p:cNvSpPr txBox="1"/>
          <p:nvPr/>
        </p:nvSpPr>
        <p:spPr>
          <a:xfrm>
            <a:off x="0" y="597775"/>
            <a:ext cx="12192000" cy="6880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2000"/>
              <a:buFont typeface="Arial"/>
              <a:buNone/>
            </a:pPr>
            <a:r>
              <a:rPr b="1" i="0" lang="en-IN" sz="2000" u="none" cap="none" strike="noStrike">
                <a:solidFill>
                  <a:schemeClr val="dk1"/>
                </a:solidFill>
                <a:latin typeface="Arial"/>
                <a:ea typeface="Arial"/>
                <a:cs typeface="Arial"/>
                <a:sym typeface="Arial"/>
              </a:rPr>
              <a:t>Milestone 1 – Data Acquisition &amp; Cleaning</a:t>
            </a:r>
            <a:endParaRPr b="1" i="0" sz="2000" u="none" cap="none" strike="noStrike">
              <a:solidFill>
                <a:schemeClr val="dk1"/>
              </a:solidFill>
              <a:latin typeface="Arial"/>
              <a:ea typeface="Arial"/>
              <a:cs typeface="Arial"/>
              <a:sym typeface="Arial"/>
            </a:endParaRPr>
          </a:p>
          <a:p>
            <a:pPr indent="-342900" lvl="0" marL="457200" marR="0" rtl="0" algn="l">
              <a:lnSpc>
                <a:spcPct val="115000"/>
              </a:lnSpc>
              <a:spcBef>
                <a:spcPts val="1200"/>
              </a:spcBef>
              <a:spcAft>
                <a:spcPts val="0"/>
              </a:spcAft>
              <a:buClr>
                <a:schemeClr val="dk1"/>
              </a:buClr>
              <a:buSzPts val="1800"/>
              <a:buFont typeface="Arial"/>
              <a:buChar char="●"/>
            </a:pPr>
            <a:r>
              <a:rPr b="0" i="0" lang="en-IN" sz="1800" u="none" cap="none" strike="noStrike">
                <a:solidFill>
                  <a:schemeClr val="dk1"/>
                </a:solidFill>
                <a:latin typeface="Arial"/>
                <a:ea typeface="Arial"/>
                <a:cs typeface="Arial"/>
                <a:sym typeface="Arial"/>
              </a:rPr>
              <a:t>Collected and studied the DataCo Supply Chain Dataset, performed data preprocessing and cleaning using Power Query Editor, corrected data types, removed unnecessary columns, handled duplicates, and prepared the dataset for analysis.</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2000"/>
              <a:buFont typeface="Arial"/>
              <a:buNone/>
            </a:pPr>
            <a:r>
              <a:rPr b="1" i="0" lang="en-IN" sz="2000" u="none" cap="none" strike="noStrike">
                <a:solidFill>
                  <a:schemeClr val="dk1"/>
                </a:solidFill>
                <a:latin typeface="Arial"/>
                <a:ea typeface="Arial"/>
                <a:cs typeface="Arial"/>
                <a:sym typeface="Arial"/>
              </a:rPr>
              <a:t>Milestone 2 – Data Modeling</a:t>
            </a:r>
            <a:endParaRPr b="1" i="0" sz="2000" u="none" cap="none" strike="noStrike">
              <a:solidFill>
                <a:schemeClr val="dk1"/>
              </a:solidFill>
              <a:latin typeface="Arial"/>
              <a:ea typeface="Arial"/>
              <a:cs typeface="Arial"/>
              <a:sym typeface="Arial"/>
            </a:endParaRPr>
          </a:p>
          <a:p>
            <a:pPr indent="-342900" lvl="0" marL="457200" marR="0" rtl="0" algn="l">
              <a:lnSpc>
                <a:spcPct val="115000"/>
              </a:lnSpc>
              <a:spcBef>
                <a:spcPts val="1200"/>
              </a:spcBef>
              <a:spcAft>
                <a:spcPts val="0"/>
              </a:spcAft>
              <a:buClr>
                <a:schemeClr val="dk1"/>
              </a:buClr>
              <a:buSzPts val="1800"/>
              <a:buFont typeface="Arial"/>
              <a:buChar char="●"/>
            </a:pPr>
            <a:r>
              <a:rPr b="0" i="0" lang="en-IN" sz="1800" u="none" cap="none" strike="noStrike">
                <a:solidFill>
                  <a:schemeClr val="dk1"/>
                </a:solidFill>
                <a:latin typeface="Arial"/>
                <a:ea typeface="Arial"/>
                <a:cs typeface="Arial"/>
                <a:sym typeface="Arial"/>
              </a:rPr>
              <a:t>Transformed the cleaned dataset into an analysis-ready structure, created required calculated and derived fields, organized relevant attributes, and prepared the data for Power BI analysis and visualization.</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2000"/>
              <a:buFont typeface="Arial"/>
              <a:buNone/>
            </a:pPr>
            <a:r>
              <a:rPr b="1" i="0" lang="en-IN" sz="2000" u="none" cap="none" strike="noStrike">
                <a:solidFill>
                  <a:schemeClr val="dk1"/>
                </a:solidFill>
                <a:latin typeface="Arial"/>
                <a:ea typeface="Arial"/>
                <a:cs typeface="Arial"/>
                <a:sym typeface="Arial"/>
              </a:rPr>
              <a:t>Milestone 3 – Development</a:t>
            </a:r>
            <a:endParaRPr b="1" i="0" sz="2000" u="none" cap="none" strike="noStrike">
              <a:solidFill>
                <a:schemeClr val="dk1"/>
              </a:solidFill>
              <a:latin typeface="Arial"/>
              <a:ea typeface="Arial"/>
              <a:cs typeface="Arial"/>
              <a:sym typeface="Arial"/>
            </a:endParaRPr>
          </a:p>
          <a:p>
            <a:pPr indent="-342900" lvl="0" marL="457200" marR="0" rtl="0" algn="l">
              <a:lnSpc>
                <a:spcPct val="115000"/>
              </a:lnSpc>
              <a:spcBef>
                <a:spcPts val="1200"/>
              </a:spcBef>
              <a:spcAft>
                <a:spcPts val="0"/>
              </a:spcAft>
              <a:buClr>
                <a:schemeClr val="dk1"/>
              </a:buClr>
              <a:buSzPts val="1800"/>
              <a:buFont typeface="Arial"/>
              <a:buChar char="●"/>
            </a:pPr>
            <a:r>
              <a:rPr b="0" i="0" lang="en-IN" sz="1800" u="none" cap="none" strike="noStrike">
                <a:solidFill>
                  <a:schemeClr val="dk1"/>
                </a:solidFill>
                <a:latin typeface="Arial"/>
                <a:ea typeface="Arial"/>
                <a:cs typeface="Arial"/>
                <a:sym typeface="Arial"/>
              </a:rPr>
              <a:t>Developed </a:t>
            </a:r>
            <a:r>
              <a:rPr b="1" i="0" lang="en-IN" sz="1800" u="none" cap="none" strike="noStrike">
                <a:solidFill>
                  <a:schemeClr val="dk1"/>
                </a:solidFill>
                <a:latin typeface="Arial"/>
                <a:ea typeface="Arial"/>
                <a:cs typeface="Arial"/>
                <a:sym typeface="Arial"/>
              </a:rPr>
              <a:t>seven interactive Power BI dashboards</a:t>
            </a:r>
            <a:r>
              <a:rPr b="0" i="0" lang="en-IN" sz="1800" u="none" cap="none" strike="noStrike">
                <a:solidFill>
                  <a:schemeClr val="dk1"/>
                </a:solidFill>
                <a:latin typeface="Arial"/>
                <a:ea typeface="Arial"/>
                <a:cs typeface="Arial"/>
                <a:sym typeface="Arial"/>
              </a:rPr>
              <a:t> covering supply chain performance, product and pricing, customer and geography, delivery and shipping, regional and market performance, orders and discounts, and profitability.</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2000"/>
              <a:buFont typeface="Arial"/>
              <a:buNone/>
            </a:pPr>
            <a:r>
              <a:rPr b="1" i="0" lang="en-IN" sz="2000" u="none" cap="none" strike="noStrike">
                <a:solidFill>
                  <a:schemeClr val="dk1"/>
                </a:solidFill>
                <a:latin typeface="Arial"/>
                <a:ea typeface="Arial"/>
                <a:cs typeface="Arial"/>
                <a:sym typeface="Arial"/>
              </a:rPr>
              <a:t>Milestone 4 – Review &amp; Optimization</a:t>
            </a:r>
            <a:endParaRPr b="1" i="0" sz="2000" u="none" cap="none" strike="noStrike">
              <a:solidFill>
                <a:schemeClr val="dk1"/>
              </a:solidFill>
              <a:latin typeface="Arial"/>
              <a:ea typeface="Arial"/>
              <a:cs typeface="Arial"/>
              <a:sym typeface="Arial"/>
            </a:endParaRPr>
          </a:p>
          <a:p>
            <a:pPr indent="-342900" lvl="0" marL="457200" marR="0" rtl="0" algn="l">
              <a:lnSpc>
                <a:spcPct val="115000"/>
              </a:lnSpc>
              <a:spcBef>
                <a:spcPts val="1200"/>
              </a:spcBef>
              <a:spcAft>
                <a:spcPts val="0"/>
              </a:spcAft>
              <a:buClr>
                <a:schemeClr val="dk1"/>
              </a:buClr>
              <a:buSzPts val="1800"/>
              <a:buFont typeface="Arial"/>
              <a:buChar char="●"/>
            </a:pPr>
            <a:r>
              <a:rPr b="0" i="0" lang="en-IN" sz="1800" u="none" cap="none" strike="noStrike">
                <a:solidFill>
                  <a:schemeClr val="dk1"/>
                </a:solidFill>
                <a:latin typeface="Arial"/>
                <a:ea typeface="Arial"/>
                <a:cs typeface="Arial"/>
                <a:sym typeface="Arial"/>
              </a:rPr>
              <a:t>Reviewed and validated all seven dashboards, checked visualization accuracy and consistency, improved dashboard formatting, generated business insights, and finalized the project documentation and presentation.</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2"/>
          <p:cNvSpPr txBox="1"/>
          <p:nvPr/>
        </p:nvSpPr>
        <p:spPr>
          <a:xfrm>
            <a:off x="0" y="0"/>
            <a:ext cx="122226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n-IN" sz="3000" u="none" cap="none" strike="noStrike">
                <a:solidFill>
                  <a:schemeClr val="dk1"/>
                </a:solidFill>
                <a:latin typeface="Twentieth Century"/>
                <a:ea typeface="Twentieth Century"/>
                <a:cs typeface="Twentieth Century"/>
                <a:sym typeface="Twentieth Century"/>
              </a:rPr>
              <a:t>CHALLENGES &amp; RESOLUTIONS </a:t>
            </a:r>
            <a:endParaRPr b="1" i="0" sz="3000" u="none" cap="none" strike="noStrike">
              <a:solidFill>
                <a:schemeClr val="dk1"/>
              </a:solidFill>
              <a:latin typeface="Twentieth Century"/>
              <a:ea typeface="Twentieth Century"/>
              <a:cs typeface="Twentieth Century"/>
              <a:sym typeface="Twentieth Century"/>
            </a:endParaRPr>
          </a:p>
        </p:txBody>
      </p:sp>
      <p:sp>
        <p:nvSpPr>
          <p:cNvPr id="177" name="Google Shape;177;p22"/>
          <p:cNvSpPr txBox="1"/>
          <p:nvPr/>
        </p:nvSpPr>
        <p:spPr>
          <a:xfrm>
            <a:off x="261400" y="764875"/>
            <a:ext cx="11930700" cy="632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IN" sz="2400" u="none" cap="none" strike="noStrike">
                <a:solidFill>
                  <a:schemeClr val="dk1"/>
                </a:solidFill>
                <a:latin typeface="Arial"/>
                <a:ea typeface="Arial"/>
                <a:cs typeface="Arial"/>
                <a:sym typeface="Arial"/>
              </a:rPr>
              <a:t>Challenges</a:t>
            </a:r>
            <a:endParaRPr b="1" i="0" sz="2400" u="none" cap="none" strike="noStrike">
              <a:solidFill>
                <a:schemeClr val="dk1"/>
              </a:solidFill>
              <a:latin typeface="Arial"/>
              <a:ea typeface="Arial"/>
              <a:cs typeface="Arial"/>
              <a:sym typeface="Arial"/>
            </a:endParaRPr>
          </a:p>
          <a:p>
            <a:pPr indent="-368300" lvl="0" marL="457200" marR="0" rtl="0" algn="l">
              <a:lnSpc>
                <a:spcPct val="115000"/>
              </a:lnSpc>
              <a:spcBef>
                <a:spcPts val="1200"/>
              </a:spcBef>
              <a:spcAft>
                <a:spcPts val="0"/>
              </a:spcAft>
              <a:buClr>
                <a:schemeClr val="dk1"/>
              </a:buClr>
              <a:buSzPts val="2200"/>
              <a:buFont typeface="Arial"/>
              <a:buAutoNum type="arabicPeriod"/>
            </a:pPr>
            <a:r>
              <a:rPr b="0" i="0" lang="en-IN" sz="2200" u="none" cap="none" strike="noStrike">
                <a:solidFill>
                  <a:schemeClr val="dk1"/>
                </a:solidFill>
                <a:latin typeface="Arial"/>
                <a:ea typeface="Arial"/>
                <a:cs typeface="Arial"/>
                <a:sym typeface="Arial"/>
              </a:rPr>
              <a:t>The dataset contained a large number of records and columns, making it difficult to identify the most relevant information.</a:t>
            </a: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0"/>
              </a:spcBef>
              <a:spcAft>
                <a:spcPts val="0"/>
              </a:spcAft>
              <a:buClr>
                <a:schemeClr val="dk1"/>
              </a:buClr>
              <a:buSzPts val="2200"/>
              <a:buFont typeface="Arial"/>
              <a:buAutoNum type="arabicPeriod"/>
            </a:pPr>
            <a:r>
              <a:rPr b="0" i="0" lang="en-IN" sz="2200" u="none" cap="none" strike="noStrike">
                <a:solidFill>
                  <a:schemeClr val="dk1"/>
                </a:solidFill>
                <a:latin typeface="Arial"/>
                <a:ea typeface="Arial"/>
                <a:cs typeface="Arial"/>
                <a:sym typeface="Arial"/>
              </a:rPr>
              <a:t>Several data fields required cleaning, transformation, and correct data-type assignment before analysis.</a:t>
            </a: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0"/>
              </a:spcBef>
              <a:spcAft>
                <a:spcPts val="0"/>
              </a:spcAft>
              <a:buClr>
                <a:schemeClr val="dk1"/>
              </a:buClr>
              <a:buSzPts val="2200"/>
              <a:buFont typeface="Arial"/>
              <a:buAutoNum type="arabicPeriod"/>
            </a:pPr>
            <a:r>
              <a:rPr b="0" i="0" lang="en-IN" sz="2200" u="none" cap="none" strike="noStrike">
                <a:solidFill>
                  <a:schemeClr val="dk1"/>
                </a:solidFill>
                <a:latin typeface="Arial"/>
                <a:ea typeface="Arial"/>
                <a:cs typeface="Arial"/>
                <a:sym typeface="Arial"/>
              </a:rPr>
              <a:t>Different business areas needed to be represented through suitable and meaningful Power BI visualizations.</a:t>
            </a:r>
            <a:endParaRPr b="0" i="0" sz="22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1" i="0" lang="en-IN" sz="2400" u="none" cap="none" strike="noStrike">
                <a:solidFill>
                  <a:schemeClr val="dk1"/>
                </a:solidFill>
                <a:latin typeface="Arial"/>
                <a:ea typeface="Arial"/>
                <a:cs typeface="Arial"/>
                <a:sym typeface="Arial"/>
              </a:rPr>
              <a:t>Resolutions</a:t>
            </a:r>
            <a:endParaRPr b="1" i="0" sz="2400" u="none" cap="none" strike="noStrike">
              <a:solidFill>
                <a:schemeClr val="dk1"/>
              </a:solidFill>
              <a:latin typeface="Arial"/>
              <a:ea typeface="Arial"/>
              <a:cs typeface="Arial"/>
              <a:sym typeface="Arial"/>
            </a:endParaRPr>
          </a:p>
          <a:p>
            <a:pPr indent="-368300" lvl="0" marL="457200" marR="0" rtl="0" algn="l">
              <a:lnSpc>
                <a:spcPct val="115000"/>
              </a:lnSpc>
              <a:spcBef>
                <a:spcPts val="1200"/>
              </a:spcBef>
              <a:spcAft>
                <a:spcPts val="0"/>
              </a:spcAft>
              <a:buClr>
                <a:schemeClr val="dk1"/>
              </a:buClr>
              <a:buSzPts val="2200"/>
              <a:buFont typeface="Arial"/>
              <a:buAutoNum type="arabicPeriod"/>
            </a:pPr>
            <a:r>
              <a:rPr b="0" i="0" lang="en-IN" sz="2200" u="none" cap="none" strike="noStrike">
                <a:solidFill>
                  <a:schemeClr val="dk1"/>
                </a:solidFill>
                <a:latin typeface="Arial"/>
                <a:ea typeface="Arial"/>
                <a:cs typeface="Arial"/>
                <a:sym typeface="Arial"/>
              </a:rPr>
              <a:t>Studied the dataset structure and identified relevant attributes according to the project requirements.</a:t>
            </a: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0"/>
              </a:spcBef>
              <a:spcAft>
                <a:spcPts val="0"/>
              </a:spcAft>
              <a:buClr>
                <a:schemeClr val="dk1"/>
              </a:buClr>
              <a:buSzPts val="2200"/>
              <a:buFont typeface="Arial"/>
              <a:buAutoNum type="arabicPeriod"/>
            </a:pPr>
            <a:r>
              <a:rPr b="0" i="0" lang="en-IN" sz="2200" u="none" cap="none" strike="noStrike">
                <a:solidFill>
                  <a:schemeClr val="dk1"/>
                </a:solidFill>
                <a:latin typeface="Arial"/>
                <a:ea typeface="Arial"/>
                <a:cs typeface="Arial"/>
                <a:sym typeface="Arial"/>
              </a:rPr>
              <a:t>Used </a:t>
            </a:r>
            <a:r>
              <a:rPr b="1" i="0" lang="en-IN" sz="2200" u="none" cap="none" strike="noStrike">
                <a:solidFill>
                  <a:schemeClr val="dk1"/>
                </a:solidFill>
                <a:latin typeface="Arial"/>
                <a:ea typeface="Arial"/>
                <a:cs typeface="Arial"/>
                <a:sym typeface="Arial"/>
              </a:rPr>
              <a:t>Power Query Editor</a:t>
            </a:r>
            <a:r>
              <a:rPr b="0" i="0" lang="en-IN" sz="2200" u="none" cap="none" strike="noStrike">
                <a:solidFill>
                  <a:schemeClr val="dk1"/>
                </a:solidFill>
                <a:latin typeface="Arial"/>
                <a:ea typeface="Arial"/>
                <a:cs typeface="Arial"/>
                <a:sym typeface="Arial"/>
              </a:rPr>
              <a:t> to clean, transform, rename, and prepare the dataset.</a:t>
            </a:r>
            <a:endParaRPr b="0" i="0" sz="2200" u="none" cap="none" strike="noStrike">
              <a:solidFill>
                <a:schemeClr val="dk1"/>
              </a:solidFill>
              <a:latin typeface="Arial"/>
              <a:ea typeface="Arial"/>
              <a:cs typeface="Arial"/>
              <a:sym typeface="Arial"/>
            </a:endParaRPr>
          </a:p>
          <a:p>
            <a:pPr indent="-368300" lvl="0" marL="457200" marR="0" rtl="0" algn="l">
              <a:lnSpc>
                <a:spcPct val="115000"/>
              </a:lnSpc>
              <a:spcBef>
                <a:spcPts val="0"/>
              </a:spcBef>
              <a:spcAft>
                <a:spcPts val="0"/>
              </a:spcAft>
              <a:buClr>
                <a:schemeClr val="dk1"/>
              </a:buClr>
              <a:buSzPts val="2200"/>
              <a:buFont typeface="Arial"/>
              <a:buAutoNum type="arabicPeriod"/>
            </a:pPr>
            <a:r>
              <a:rPr b="0" i="0" lang="en-IN" sz="2200" u="none" cap="none" strike="noStrike">
                <a:solidFill>
                  <a:schemeClr val="dk1"/>
                </a:solidFill>
                <a:latin typeface="Arial"/>
                <a:ea typeface="Arial"/>
                <a:cs typeface="Arial"/>
                <a:sym typeface="Arial"/>
              </a:rPr>
              <a:t>Selected appropriate Power BI visualizations and organized the analysis into seven focused dashboards.</a:t>
            </a:r>
            <a:endParaRPr b="0" i="0" sz="22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400"/>
              <a:buFont typeface="Arial"/>
              <a:buNone/>
            </a:pPr>
            <a:r>
              <a:t/>
            </a:r>
            <a:endParaRPr b="1" i="0" sz="24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3"/>
          <p:cNvSpPr txBox="1"/>
          <p:nvPr/>
        </p:nvSpPr>
        <p:spPr>
          <a:xfrm>
            <a:off x="307375" y="0"/>
            <a:ext cx="9351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000">
                <a:solidFill>
                  <a:schemeClr val="dk1"/>
                </a:solidFill>
                <a:latin typeface="Twentieth Century"/>
                <a:ea typeface="Twentieth Century"/>
                <a:cs typeface="Twentieth Century"/>
                <a:sym typeface="Twentieth Century"/>
              </a:rPr>
              <a:t>Workflow :</a:t>
            </a:r>
            <a:endParaRPr b="1" sz="3000">
              <a:solidFill>
                <a:schemeClr val="dk1"/>
              </a:solidFill>
              <a:latin typeface="Twentieth Century"/>
              <a:ea typeface="Twentieth Century"/>
              <a:cs typeface="Twentieth Century"/>
              <a:sym typeface="Twentieth Century"/>
            </a:endParaRPr>
          </a:p>
        </p:txBody>
      </p:sp>
      <p:pic>
        <p:nvPicPr>
          <p:cNvPr id="183" name="Google Shape;183;p23"/>
          <p:cNvPicPr preferRelativeResize="0"/>
          <p:nvPr/>
        </p:nvPicPr>
        <p:blipFill>
          <a:blip r:embed="rId3">
            <a:alphaModFix/>
          </a:blip>
          <a:stretch>
            <a:fillRect/>
          </a:stretch>
        </p:blipFill>
        <p:spPr>
          <a:xfrm>
            <a:off x="3236150" y="646501"/>
            <a:ext cx="5350125" cy="5956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nvSpPr>
        <p:spPr>
          <a:xfrm>
            <a:off x="0" y="135550"/>
            <a:ext cx="121920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n-IN" sz="3000" u="none" cap="none" strike="noStrike">
                <a:solidFill>
                  <a:schemeClr val="dk1"/>
                </a:solidFill>
                <a:latin typeface="Twentieth Century"/>
                <a:ea typeface="Twentieth Century"/>
                <a:cs typeface="Twentieth Century"/>
                <a:sym typeface="Twentieth Century"/>
              </a:rPr>
              <a:t>FUTURE ENHANCEMENTS &amp; KEY INSIGHTS </a:t>
            </a:r>
            <a:endParaRPr b="1" i="0" sz="3000" u="none" cap="none" strike="noStrike">
              <a:solidFill>
                <a:schemeClr val="dk1"/>
              </a:solidFill>
              <a:latin typeface="Twentieth Century"/>
              <a:ea typeface="Twentieth Century"/>
              <a:cs typeface="Twentieth Century"/>
              <a:sym typeface="Twentieth Century"/>
            </a:endParaRPr>
          </a:p>
        </p:txBody>
      </p:sp>
      <p:sp>
        <p:nvSpPr>
          <p:cNvPr id="189" name="Google Shape;189;p24"/>
          <p:cNvSpPr txBox="1"/>
          <p:nvPr/>
        </p:nvSpPr>
        <p:spPr>
          <a:xfrm>
            <a:off x="277550" y="955275"/>
            <a:ext cx="11844300" cy="5099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IN" sz="2800" u="none" cap="none" strike="noStrike">
                <a:solidFill>
                  <a:schemeClr val="dk1"/>
                </a:solidFill>
                <a:latin typeface="Arial"/>
                <a:ea typeface="Arial"/>
                <a:cs typeface="Arial"/>
                <a:sym typeface="Arial"/>
              </a:rPr>
              <a:t>Future Enhancements</a:t>
            </a:r>
            <a:endParaRPr b="1" i="0" sz="2800" u="none" cap="none" strike="noStrike">
              <a:solidFill>
                <a:schemeClr val="dk1"/>
              </a:solidFill>
              <a:latin typeface="Arial"/>
              <a:ea typeface="Arial"/>
              <a:cs typeface="Arial"/>
              <a:sym typeface="Arial"/>
            </a:endParaRPr>
          </a:p>
          <a:p>
            <a:pPr indent="-381000" lvl="0" marL="457200" marR="0" rtl="0" algn="l">
              <a:lnSpc>
                <a:spcPct val="115000"/>
              </a:lnSpc>
              <a:spcBef>
                <a:spcPts val="1200"/>
              </a:spcBef>
              <a:spcAft>
                <a:spcPts val="0"/>
              </a:spcAft>
              <a:buClr>
                <a:schemeClr val="dk1"/>
              </a:buClr>
              <a:buSzPts val="2400"/>
              <a:buFont typeface="Arial"/>
              <a:buChar char="●"/>
            </a:pPr>
            <a:r>
              <a:rPr b="0" i="0" lang="en-IN" sz="2400" u="none" cap="none" strike="noStrike">
                <a:solidFill>
                  <a:schemeClr val="dk1"/>
                </a:solidFill>
                <a:latin typeface="Arial"/>
                <a:ea typeface="Arial"/>
                <a:cs typeface="Arial"/>
                <a:sym typeface="Arial"/>
              </a:rPr>
              <a:t>Integrate real-time supply chain data for continuous monitoring.</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IN" sz="2400" u="none" cap="none" strike="noStrike">
                <a:solidFill>
                  <a:schemeClr val="dk1"/>
                </a:solidFill>
                <a:latin typeface="Arial"/>
                <a:ea typeface="Arial"/>
                <a:cs typeface="Arial"/>
                <a:sym typeface="Arial"/>
              </a:rPr>
              <a:t>Add sales and demand forecasting capabilities.</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IN" sz="2400" u="none" cap="none" strike="noStrike">
                <a:solidFill>
                  <a:schemeClr val="dk1"/>
                </a:solidFill>
                <a:latin typeface="Arial"/>
                <a:ea typeface="Arial"/>
                <a:cs typeface="Arial"/>
                <a:sym typeface="Arial"/>
              </a:rPr>
              <a:t>Develop predictive analysis for potential late deliveries.</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IN" sz="2400" u="none" cap="none" strike="noStrike">
                <a:solidFill>
                  <a:schemeClr val="dk1"/>
                </a:solidFill>
                <a:latin typeface="Arial"/>
                <a:ea typeface="Arial"/>
                <a:cs typeface="Arial"/>
                <a:sym typeface="Arial"/>
              </a:rPr>
              <a:t>Introduce advanced analytics and automation for better decision-making.</a:t>
            </a:r>
            <a:endParaRPr b="0" i="0" sz="24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1" i="0" lang="en-IN" sz="2800" u="none" cap="none" strike="noStrike">
                <a:solidFill>
                  <a:schemeClr val="dk1"/>
                </a:solidFill>
                <a:latin typeface="Arial"/>
                <a:ea typeface="Arial"/>
                <a:cs typeface="Arial"/>
                <a:sym typeface="Arial"/>
              </a:rPr>
              <a:t>Key Insights</a:t>
            </a:r>
            <a:endParaRPr b="1" i="0" sz="2800" u="none" cap="none" strike="noStrike">
              <a:solidFill>
                <a:schemeClr val="dk1"/>
              </a:solidFill>
              <a:latin typeface="Arial"/>
              <a:ea typeface="Arial"/>
              <a:cs typeface="Arial"/>
              <a:sym typeface="Arial"/>
            </a:endParaRPr>
          </a:p>
          <a:p>
            <a:pPr indent="-381000" lvl="0" marL="457200" marR="0" rtl="0" algn="l">
              <a:lnSpc>
                <a:spcPct val="115000"/>
              </a:lnSpc>
              <a:spcBef>
                <a:spcPts val="1200"/>
              </a:spcBef>
              <a:spcAft>
                <a:spcPts val="0"/>
              </a:spcAft>
              <a:buClr>
                <a:schemeClr val="dk1"/>
              </a:buClr>
              <a:buSzPts val="2400"/>
              <a:buFont typeface="Arial"/>
              <a:buChar char="●"/>
            </a:pPr>
            <a:r>
              <a:rPr b="0" i="0" lang="en-IN" sz="2400" u="none" cap="none" strike="noStrike">
                <a:solidFill>
                  <a:schemeClr val="dk1"/>
                </a:solidFill>
                <a:latin typeface="Arial"/>
                <a:ea typeface="Arial"/>
                <a:cs typeface="Arial"/>
                <a:sym typeface="Arial"/>
              </a:rPr>
              <a:t>More than </a:t>
            </a:r>
            <a:r>
              <a:rPr b="1" i="0" lang="en-IN" sz="2400" u="none" cap="none" strike="noStrike">
                <a:solidFill>
                  <a:schemeClr val="dk1"/>
                </a:solidFill>
                <a:latin typeface="Arial"/>
                <a:ea typeface="Arial"/>
                <a:cs typeface="Arial"/>
                <a:sym typeface="Arial"/>
              </a:rPr>
              <a:t>180K orders</a:t>
            </a:r>
            <a:r>
              <a:rPr b="0" i="0" lang="en-IN" sz="2400" u="none" cap="none" strike="noStrike">
                <a:solidFill>
                  <a:schemeClr val="dk1"/>
                </a:solidFill>
                <a:latin typeface="Arial"/>
                <a:ea typeface="Arial"/>
                <a:cs typeface="Arial"/>
                <a:sym typeface="Arial"/>
              </a:rPr>
              <a:t> were analyzed, indicating large-scale supply chain activity.</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Europe</a:t>
            </a:r>
            <a:r>
              <a:rPr b="0" i="0" lang="en-IN" sz="2400" u="none" cap="none" strike="noStrike">
                <a:solidFill>
                  <a:schemeClr val="dk1"/>
                </a:solidFill>
                <a:latin typeface="Arial"/>
                <a:ea typeface="Arial"/>
                <a:cs typeface="Arial"/>
                <a:sym typeface="Arial"/>
              </a:rPr>
              <a:t> emerged as a strong-performing market in terms of sales.</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1" i="0" lang="en-IN" sz="2400" u="none" cap="none" strike="noStrike">
                <a:solidFill>
                  <a:schemeClr val="dk1"/>
                </a:solidFill>
                <a:latin typeface="Arial"/>
                <a:ea typeface="Arial"/>
                <a:cs typeface="Arial"/>
                <a:sym typeface="Arial"/>
              </a:rPr>
              <a:t>Late deliveries</a:t>
            </a:r>
            <a:r>
              <a:rPr b="0" i="0" lang="en-IN" sz="2400" u="none" cap="none" strike="noStrike">
                <a:solidFill>
                  <a:schemeClr val="dk1"/>
                </a:solidFill>
                <a:latin typeface="Arial"/>
                <a:ea typeface="Arial"/>
                <a:cs typeface="Arial"/>
                <a:sym typeface="Arial"/>
              </a:rPr>
              <a:t> highlighted an important area for logistics improvement.</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nvSpPr>
        <p:spPr>
          <a:xfrm>
            <a:off x="0" y="0"/>
            <a:ext cx="121920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n-IN" sz="3000" u="none" cap="none" strike="noStrike">
                <a:solidFill>
                  <a:schemeClr val="dk1"/>
                </a:solidFill>
                <a:latin typeface="Twentieth Century"/>
                <a:ea typeface="Twentieth Century"/>
                <a:cs typeface="Twentieth Century"/>
                <a:sym typeface="Twentieth Century"/>
              </a:rPr>
              <a:t>CONCLUSION </a:t>
            </a:r>
            <a:endParaRPr b="1" i="0" sz="3000" u="none" cap="none" strike="noStrike">
              <a:solidFill>
                <a:schemeClr val="dk1"/>
              </a:solidFill>
              <a:latin typeface="Twentieth Century"/>
              <a:ea typeface="Twentieth Century"/>
              <a:cs typeface="Twentieth Century"/>
              <a:sym typeface="Twentieth Century"/>
            </a:endParaRPr>
          </a:p>
        </p:txBody>
      </p:sp>
      <p:sp>
        <p:nvSpPr>
          <p:cNvPr id="195" name="Google Shape;195;p25"/>
          <p:cNvSpPr txBox="1"/>
          <p:nvPr/>
        </p:nvSpPr>
        <p:spPr>
          <a:xfrm>
            <a:off x="-75" y="813275"/>
            <a:ext cx="121920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IN" sz="2400" u="none" cap="none" strike="noStrike">
                <a:solidFill>
                  <a:schemeClr val="dk1"/>
                </a:solidFill>
                <a:latin typeface="Twentieth Century"/>
                <a:ea typeface="Twentieth Century"/>
                <a:cs typeface="Twentieth Century"/>
                <a:sym typeface="Twentieth Century"/>
              </a:rPr>
              <a:t>The Supply Chain Visibility System with Optimization Analytics project successfully transformed the DataCo Supply Chain Dataset into an interactive Power BI-based Business Intelligence solution. </a:t>
            </a:r>
            <a:endParaRPr b="0" i="0" sz="2400" u="none" cap="none" strike="noStrike">
              <a:solidFill>
                <a:schemeClr val="dk1"/>
              </a:solidFill>
              <a:latin typeface="Twentieth Century"/>
              <a:ea typeface="Twentieth Century"/>
              <a:cs typeface="Twentieth Century"/>
              <a:sym typeface="Twentieth Century"/>
            </a:endParaRPr>
          </a:p>
        </p:txBody>
      </p:sp>
      <p:sp>
        <p:nvSpPr>
          <p:cNvPr id="196" name="Google Shape;196;p25"/>
          <p:cNvSpPr txBox="1"/>
          <p:nvPr/>
        </p:nvSpPr>
        <p:spPr>
          <a:xfrm>
            <a:off x="438900" y="1903450"/>
            <a:ext cx="11408400" cy="5099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IN" sz="2800" u="none" cap="none" strike="noStrike">
                <a:solidFill>
                  <a:schemeClr val="dk1"/>
                </a:solidFill>
                <a:latin typeface="Arial"/>
                <a:ea typeface="Arial"/>
                <a:cs typeface="Arial"/>
                <a:sym typeface="Arial"/>
              </a:rPr>
              <a:t>Technical Skills</a:t>
            </a:r>
            <a:endParaRPr b="1" i="0" sz="2800" u="none" cap="none" strike="noStrike">
              <a:solidFill>
                <a:schemeClr val="dk1"/>
              </a:solidFill>
              <a:latin typeface="Arial"/>
              <a:ea typeface="Arial"/>
              <a:cs typeface="Arial"/>
              <a:sym typeface="Arial"/>
            </a:endParaRPr>
          </a:p>
          <a:p>
            <a:pPr indent="-381000" lvl="0" marL="457200" marR="0" rtl="0" algn="l">
              <a:lnSpc>
                <a:spcPct val="115000"/>
              </a:lnSpc>
              <a:spcBef>
                <a:spcPts val="1200"/>
              </a:spcBef>
              <a:spcAft>
                <a:spcPts val="0"/>
              </a:spcAft>
              <a:buClr>
                <a:schemeClr val="dk1"/>
              </a:buClr>
              <a:buSzPts val="2400"/>
              <a:buFont typeface="Arial"/>
              <a:buChar char="●"/>
            </a:pPr>
            <a:r>
              <a:rPr b="0" i="0" lang="en-IN" sz="2400" u="none" cap="none" strike="noStrike">
                <a:solidFill>
                  <a:schemeClr val="dk1"/>
                </a:solidFill>
                <a:latin typeface="Arial"/>
                <a:ea typeface="Arial"/>
                <a:cs typeface="Arial"/>
                <a:sym typeface="Arial"/>
              </a:rPr>
              <a:t>Power BI &amp; Dashboard Development</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IN" sz="2400" u="none" cap="none" strike="noStrike">
                <a:solidFill>
                  <a:schemeClr val="dk1"/>
                </a:solidFill>
                <a:latin typeface="Arial"/>
                <a:ea typeface="Arial"/>
                <a:cs typeface="Arial"/>
                <a:sym typeface="Arial"/>
              </a:rPr>
              <a:t>Power Query Data Preprocessing</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IN" sz="2400" u="none" cap="none" strike="noStrike">
                <a:solidFill>
                  <a:schemeClr val="dk1"/>
                </a:solidFill>
                <a:latin typeface="Arial"/>
                <a:ea typeface="Arial"/>
                <a:cs typeface="Arial"/>
                <a:sym typeface="Arial"/>
              </a:rPr>
              <a:t>Data Visualization &amp; Business Analysis</a:t>
            </a:r>
            <a:endParaRPr b="0" i="0" sz="24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1" i="0" lang="en-IN" sz="2800" u="none" cap="none" strike="noStrike">
                <a:solidFill>
                  <a:schemeClr val="dk1"/>
                </a:solidFill>
                <a:latin typeface="Arial"/>
                <a:ea typeface="Arial"/>
                <a:cs typeface="Arial"/>
                <a:sym typeface="Arial"/>
              </a:rPr>
              <a:t>Soft Skills</a:t>
            </a:r>
            <a:endParaRPr b="1" i="0" sz="2800" u="none" cap="none" strike="noStrike">
              <a:solidFill>
                <a:schemeClr val="dk1"/>
              </a:solidFill>
              <a:latin typeface="Arial"/>
              <a:ea typeface="Arial"/>
              <a:cs typeface="Arial"/>
              <a:sym typeface="Arial"/>
            </a:endParaRPr>
          </a:p>
          <a:p>
            <a:pPr indent="-381000" lvl="0" marL="457200" marR="0" rtl="0" algn="l">
              <a:lnSpc>
                <a:spcPct val="115000"/>
              </a:lnSpc>
              <a:spcBef>
                <a:spcPts val="1200"/>
              </a:spcBef>
              <a:spcAft>
                <a:spcPts val="0"/>
              </a:spcAft>
              <a:buClr>
                <a:schemeClr val="dk1"/>
              </a:buClr>
              <a:buSzPts val="2400"/>
              <a:buFont typeface="Arial"/>
              <a:buChar char="●"/>
            </a:pPr>
            <a:r>
              <a:rPr b="0" i="0" lang="en-IN" sz="2400" u="none" cap="none" strike="noStrike">
                <a:solidFill>
                  <a:schemeClr val="dk1"/>
                </a:solidFill>
                <a:latin typeface="Arial"/>
                <a:ea typeface="Arial"/>
                <a:cs typeface="Arial"/>
                <a:sym typeface="Arial"/>
              </a:rPr>
              <a:t>Problem Solving</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IN" sz="2400" u="none" cap="none" strike="noStrike">
                <a:solidFill>
                  <a:schemeClr val="dk1"/>
                </a:solidFill>
                <a:latin typeface="Arial"/>
                <a:ea typeface="Arial"/>
                <a:cs typeface="Arial"/>
                <a:sym typeface="Arial"/>
              </a:rPr>
              <a:t>Communication</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IN" sz="2400" u="none" cap="none" strike="noStrike">
                <a:solidFill>
                  <a:schemeClr val="dk1"/>
                </a:solidFill>
                <a:latin typeface="Arial"/>
                <a:ea typeface="Arial"/>
                <a:cs typeface="Arial"/>
                <a:sym typeface="Arial"/>
              </a:rPr>
              <a:t>Time Management</a:t>
            </a:r>
            <a:endParaRPr b="0" i="0" sz="2400" u="none" cap="none" strike="noStrike">
              <a:solidFill>
                <a:schemeClr val="dk1"/>
              </a:solidFill>
              <a:latin typeface="Arial"/>
              <a:ea typeface="Arial"/>
              <a:cs typeface="Arial"/>
              <a:sym typeface="Arial"/>
            </a:endParaRPr>
          </a:p>
          <a:p>
            <a:pPr indent="-381000" lvl="0" marL="457200" marR="0" rtl="0" algn="l">
              <a:lnSpc>
                <a:spcPct val="115000"/>
              </a:lnSpc>
              <a:spcBef>
                <a:spcPts val="0"/>
              </a:spcBef>
              <a:spcAft>
                <a:spcPts val="0"/>
              </a:spcAft>
              <a:buClr>
                <a:schemeClr val="dk1"/>
              </a:buClr>
              <a:buSzPts val="2400"/>
              <a:buFont typeface="Arial"/>
              <a:buChar char="●"/>
            </a:pPr>
            <a:r>
              <a:rPr b="0" i="0" lang="en-IN" sz="2400" u="none" cap="none" strike="noStrike">
                <a:solidFill>
                  <a:schemeClr val="dk1"/>
                </a:solidFill>
                <a:latin typeface="Arial"/>
                <a:ea typeface="Arial"/>
                <a:cs typeface="Arial"/>
                <a:sym typeface="Arial"/>
              </a:rPr>
              <a:t>Presentation</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6"/>
          <p:cNvSpPr txBox="1"/>
          <p:nvPr/>
        </p:nvSpPr>
        <p:spPr>
          <a:xfrm>
            <a:off x="0" y="0"/>
            <a:ext cx="121920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n-IN" sz="3000" u="none" cap="none" strike="noStrike">
                <a:solidFill>
                  <a:schemeClr val="dk1"/>
                </a:solidFill>
                <a:latin typeface="Twentieth Century"/>
                <a:ea typeface="Twentieth Century"/>
                <a:cs typeface="Twentieth Century"/>
                <a:sym typeface="Twentieth Century"/>
              </a:rPr>
              <a:t>ACKNOWLEDGEMENTS &amp; REFERENCES </a:t>
            </a:r>
            <a:endParaRPr b="1" i="0" sz="3000" u="none" cap="none" strike="noStrike">
              <a:solidFill>
                <a:schemeClr val="dk1"/>
              </a:solidFill>
              <a:latin typeface="Twentieth Century"/>
              <a:ea typeface="Twentieth Century"/>
              <a:cs typeface="Twentieth Century"/>
              <a:sym typeface="Twentieth Century"/>
            </a:endParaRPr>
          </a:p>
        </p:txBody>
      </p:sp>
      <p:sp>
        <p:nvSpPr>
          <p:cNvPr id="202" name="Google Shape;202;p26"/>
          <p:cNvSpPr txBox="1"/>
          <p:nvPr/>
        </p:nvSpPr>
        <p:spPr>
          <a:xfrm>
            <a:off x="408075" y="646500"/>
            <a:ext cx="11085900" cy="1142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IN" sz="2800" u="none" cap="none" strike="noStrike">
                <a:solidFill>
                  <a:schemeClr val="dk1"/>
                </a:solidFill>
                <a:latin typeface="Arial"/>
                <a:ea typeface="Arial"/>
                <a:cs typeface="Arial"/>
                <a:sym typeface="Arial"/>
              </a:rPr>
              <a:t>Acknowledgements</a:t>
            </a:r>
            <a:endParaRPr b="1" i="0" sz="2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t/>
            </a:r>
            <a:endParaRPr b="0" i="0" sz="2000" u="none" cap="none" strike="noStrike">
              <a:solidFill>
                <a:schemeClr val="dk1"/>
              </a:solidFill>
              <a:latin typeface="Twentieth Century"/>
              <a:ea typeface="Twentieth Century"/>
              <a:cs typeface="Twentieth Century"/>
              <a:sym typeface="Twentieth Century"/>
            </a:endParaRPr>
          </a:p>
        </p:txBody>
      </p:sp>
      <p:sp>
        <p:nvSpPr>
          <p:cNvPr id="203" name="Google Shape;203;p26"/>
          <p:cNvSpPr txBox="1"/>
          <p:nvPr/>
        </p:nvSpPr>
        <p:spPr>
          <a:xfrm>
            <a:off x="1220800" y="1615175"/>
            <a:ext cx="348000" cy="4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Twentieth Century"/>
              <a:ea typeface="Twentieth Century"/>
              <a:cs typeface="Twentieth Century"/>
              <a:sym typeface="Twentieth Century"/>
            </a:endParaRPr>
          </a:p>
        </p:txBody>
      </p:sp>
      <p:sp>
        <p:nvSpPr>
          <p:cNvPr id="204" name="Google Shape;204;p26"/>
          <p:cNvSpPr txBox="1"/>
          <p:nvPr/>
        </p:nvSpPr>
        <p:spPr>
          <a:xfrm>
            <a:off x="487050" y="1310700"/>
            <a:ext cx="11085900" cy="4940700"/>
          </a:xfrm>
          <a:prstGeom prst="rect">
            <a:avLst/>
          </a:prstGeom>
          <a:noFill/>
          <a:ln>
            <a:noFill/>
          </a:ln>
        </p:spPr>
        <p:txBody>
          <a:bodyPr anchorCtr="0" anchor="t" bIns="91425" lIns="91425" spcFirstLastPara="1" rIns="91425" wrap="square" tIns="91425">
            <a:spAutoFit/>
          </a:bodyPr>
          <a:lstStyle/>
          <a:p>
            <a:pPr indent="0" lvl="0" marL="0" rtl="0" algn="l">
              <a:lnSpc>
                <a:spcPct val="115833"/>
              </a:lnSpc>
              <a:spcBef>
                <a:spcPts val="0"/>
              </a:spcBef>
              <a:spcAft>
                <a:spcPts val="0"/>
              </a:spcAft>
              <a:buNone/>
            </a:pPr>
            <a:r>
              <a:rPr lang="en-IN" sz="2200">
                <a:solidFill>
                  <a:schemeClr val="dk1"/>
                </a:solidFill>
                <a:latin typeface="Calibri"/>
                <a:ea typeface="Calibri"/>
                <a:cs typeface="Calibri"/>
                <a:sym typeface="Calibri"/>
              </a:rPr>
              <a:t>We would like to express our sincere gratitude to the Infosys Springboard Team for organizing this highly enriching virtual internship program and for providing a structured, industry-aligned learning platform. The well-designed modules, milestone-based framework, and practical orientation of the internship enabled us to gain meaningful exposure to real-world business intelligence applications.real-world business intelligence applications.</a:t>
            </a:r>
            <a:endParaRPr sz="2200">
              <a:solidFill>
                <a:schemeClr val="dk1"/>
              </a:solidFill>
              <a:latin typeface="Calibri"/>
              <a:ea typeface="Calibri"/>
              <a:cs typeface="Calibri"/>
              <a:sym typeface="Calibri"/>
            </a:endParaRPr>
          </a:p>
          <a:p>
            <a:pPr indent="0" lvl="0" marL="0" rtl="0" algn="l">
              <a:lnSpc>
                <a:spcPct val="115833"/>
              </a:lnSpc>
              <a:spcBef>
                <a:spcPts val="800"/>
              </a:spcBef>
              <a:spcAft>
                <a:spcPts val="800"/>
              </a:spcAft>
              <a:buClr>
                <a:schemeClr val="dk1"/>
              </a:buClr>
              <a:buSzPts val="1100"/>
              <a:buFont typeface="Arial"/>
              <a:buNone/>
            </a:pPr>
            <a:r>
              <a:rPr lang="en-IN" sz="2200">
                <a:solidFill>
                  <a:schemeClr val="dk1"/>
                </a:solidFill>
                <a:latin typeface="Calibri"/>
                <a:ea typeface="Calibri"/>
                <a:cs typeface="Calibri"/>
                <a:sym typeface="Calibri"/>
              </a:rPr>
              <a:t>We extend our heartfelt appreciation to our mentor, Ms. Nityasree, for her consistent guidance, valuable feedback, and continuous encouragement throughout the project lifecycle. Her insights and structured direction played a significant role in shaping the analytical depth and professional quality of this project. We would also like to acknowledge our team members for their strong collaboration, accountability, and shared commitment toward achieving project objectives. The coordinated distribution of responsibilities, open communication, and collective problem-solving approach significantly contributed to the successful execution of this project. </a:t>
            </a:r>
            <a:endParaRPr sz="2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7"/>
          <p:cNvSpPr txBox="1"/>
          <p:nvPr/>
        </p:nvSpPr>
        <p:spPr>
          <a:xfrm>
            <a:off x="487325" y="891175"/>
            <a:ext cx="10892100" cy="4909800"/>
          </a:xfrm>
          <a:prstGeom prst="rect">
            <a:avLst/>
          </a:prstGeom>
          <a:noFill/>
          <a:ln>
            <a:noFill/>
          </a:ln>
        </p:spPr>
        <p:txBody>
          <a:bodyPr anchorCtr="0" anchor="t" bIns="91425" lIns="91425" spcFirstLastPara="1" rIns="91425" wrap="square" tIns="91425">
            <a:spAutoFit/>
          </a:bodyPr>
          <a:lstStyle/>
          <a:p>
            <a:pPr indent="0" lvl="0" marL="0" rtl="0" algn="l">
              <a:lnSpc>
                <a:spcPct val="115833"/>
              </a:lnSpc>
              <a:spcBef>
                <a:spcPts val="0"/>
              </a:spcBef>
              <a:spcAft>
                <a:spcPts val="0"/>
              </a:spcAft>
              <a:buClr>
                <a:schemeClr val="dk1"/>
              </a:buClr>
              <a:buSzPts val="1100"/>
              <a:buFont typeface="Arial"/>
              <a:buNone/>
            </a:pPr>
            <a:r>
              <a:rPr lang="en-IN" sz="2200">
                <a:solidFill>
                  <a:schemeClr val="dk1"/>
                </a:solidFill>
                <a:latin typeface="Calibri"/>
                <a:ea typeface="Calibri"/>
                <a:cs typeface="Calibri"/>
                <a:sym typeface="Calibri"/>
              </a:rPr>
              <a:t> In addition, we extend our appreciation to the creators and maintainers of Microsoft Power BI documentation and community resources, which served as essential references during dashboard development and KPI implementation. We are also grateful to Kaggle for providing access to publicly available datasets that facilitated practical, hands-on analytical experience. The structured learning resources and practical exposure provided through this internship have significantly strengthened our analytical thinking, technical proficiency, and business interpretation skills. This experience has enhanced our ability to approach data with a strategic mindset, collaborate effectively within a team environment, and execute projects with professional discipline. Overall, this internship has been a meaningful milestone in our academic and professional journey, reinforcing the value of data-driven decision-making and structured analytical execution in modern business environments.</a:t>
            </a:r>
            <a:endParaRPr b="1" sz="2200">
              <a:solidFill>
                <a:schemeClr val="dk1"/>
              </a:solidFill>
              <a:latin typeface="Calibri"/>
              <a:ea typeface="Calibri"/>
              <a:cs typeface="Calibri"/>
              <a:sym typeface="Calibri"/>
            </a:endParaRPr>
          </a:p>
          <a:p>
            <a:pPr indent="0" lvl="0" marL="0" rtl="0" algn="l">
              <a:spcBef>
                <a:spcPts val="800"/>
              </a:spcBef>
              <a:spcAft>
                <a:spcPts val="0"/>
              </a:spcAft>
              <a:buNone/>
            </a:pPr>
            <a:r>
              <a:t/>
            </a:r>
            <a:endParaRPr sz="20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txBox="1"/>
          <p:nvPr/>
        </p:nvSpPr>
        <p:spPr>
          <a:xfrm>
            <a:off x="693875" y="500250"/>
            <a:ext cx="9620700" cy="315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IN" sz="2800">
                <a:solidFill>
                  <a:schemeClr val="dk1"/>
                </a:solidFill>
              </a:rPr>
              <a:t>References :</a:t>
            </a:r>
            <a:endParaRPr b="1" sz="2800">
              <a:solidFill>
                <a:schemeClr val="dk1"/>
              </a:solidFill>
            </a:endParaRPr>
          </a:p>
          <a:p>
            <a:pPr indent="0" lvl="0" marL="0" rtl="0" algn="l">
              <a:lnSpc>
                <a:spcPct val="115000"/>
              </a:lnSpc>
              <a:spcBef>
                <a:spcPts val="1400"/>
              </a:spcBef>
              <a:spcAft>
                <a:spcPts val="0"/>
              </a:spcAft>
              <a:buNone/>
            </a:pPr>
            <a:r>
              <a:t/>
            </a:r>
            <a:endParaRPr b="1" sz="28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IN" sz="2400">
                <a:solidFill>
                  <a:schemeClr val="dk1"/>
                </a:solidFill>
              </a:rPr>
              <a:t>DataCo Supply Chain Dataset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Microsoft Power BI Documentation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Microsoft Power Query Documentation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Infosys Springboard Learning Materials</a:t>
            </a:r>
            <a:endParaRPr sz="24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29"/>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roplet">
  <a:themeElements>
    <a:clrScheme name="Droplet">
      <a:dk1>
        <a:srgbClr val="000000"/>
      </a:dk1>
      <a:lt1>
        <a:srgbClr val="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